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hyperlink" Target="https://doi.org/10.3389/fpls.2022.1023515" TargetMode="External"/><Relationship Id="rId3" Type="http://schemas.openxmlformats.org/officeDocument/2006/relationships/hyperlink" Target="https://doi.org/10.17148/IJARCCE.2021.101222" TargetMode="External"/><Relationship Id="rId7" Type="http://schemas.openxmlformats.org/officeDocument/2006/relationships/hyperlink" Target="https://doi.org/10.1109/ASPCON49795.2020.9276722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doi.org/10.1002/cpe.7774" TargetMode="External"/><Relationship Id="rId11" Type="http://schemas.openxmlformats.org/officeDocument/2006/relationships/hyperlink" Target="https://doi.org/10.3389/fpls.2022.991134" TargetMode="External"/><Relationship Id="rId5" Type="http://schemas.openxmlformats.org/officeDocument/2006/relationships/hyperlink" Target="https://doi.org/10.3390/s22166299" TargetMode="External"/><Relationship Id="rId10" Type="http://schemas.openxmlformats.org/officeDocument/2006/relationships/hyperlink" Target="https://doi.org/10.3389/fpls.2022.1031748" TargetMode="External"/><Relationship Id="rId4" Type="http://schemas.openxmlformats.org/officeDocument/2006/relationships/hyperlink" Target="https://doi.org/10.1002/cpe.6695" TargetMode="External"/><Relationship Id="rId9" Type="http://schemas.openxmlformats.org/officeDocument/2006/relationships/hyperlink" Target="https://doi.org/10.3389/fpls.2022.808380" TargetMode="Externa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hyperlink" Target="https://doi.org/10.1155/2022/3955514" TargetMode="External"/><Relationship Id="rId3" Type="http://schemas.openxmlformats.org/officeDocument/2006/relationships/hyperlink" Target="https://doi.org/10.1016/j.compag.2020.105709" TargetMode="External"/><Relationship Id="rId7" Type="http://schemas.openxmlformats.org/officeDocument/2006/relationships/hyperlink" Target="https://doi.org/10.1016/j.seta.2022.102307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doi.org/10.32604/cmc.2022.027178" TargetMode="External"/><Relationship Id="rId11" Type="http://schemas.openxmlformats.org/officeDocument/2006/relationships/hyperlink" Target="https://doi.org/10.1002/isaf.1487" TargetMode="External"/><Relationship Id="rId5" Type="http://schemas.openxmlformats.org/officeDocument/2006/relationships/hyperlink" Target="https://doi.org/10.1038/s41598-022-06249-w" TargetMode="External"/><Relationship Id="rId10" Type="http://schemas.openxmlformats.org/officeDocument/2006/relationships/hyperlink" Target="https://doi.org/10.1155/2021/9939906" TargetMode="External"/><Relationship Id="rId4" Type="http://schemas.openxmlformats.org/officeDocument/2006/relationships/hyperlink" Target="https://doi.org/10.1371/journal.pone.0252402" TargetMode="External"/><Relationship Id="rId9" Type="http://schemas.openxmlformats.org/officeDocument/2006/relationships/hyperlink" Target="https://doi.org/10.1002/agj2.21344" TargetMode="Externa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25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klh_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325880" cy="59878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39315" y="1074420"/>
            <a:ext cx="4700005" cy="11079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300" b="1">
                <a:solidFill>
                  <a:srgbClr val="1A2D42"/>
                </a:solidFill>
              </a:defRPr>
            </a:pPr>
            <a:r>
              <a:rPr dirty="0"/>
              <a:t>AGRI-INTELLIGENCE</a:t>
            </a:r>
            <a:endParaRPr lang="en-US" dirty="0"/>
          </a:p>
          <a:p>
            <a:pPr algn="ctr">
              <a:defRPr sz="4300" b="1">
                <a:solidFill>
                  <a:srgbClr val="1A2D42"/>
                </a:solidFill>
              </a:defRPr>
            </a:pPr>
            <a:r>
              <a:rPr lang="en-US" sz="2300" dirty="0">
                <a:solidFill>
                  <a:srgbClr val="238250"/>
                </a:solidFill>
              </a:rPr>
              <a:t>Smart Crop Management System</a:t>
            </a:r>
            <a:endParaRPr dirty="0"/>
          </a:p>
        </p:txBody>
      </p:sp>
      <p:sp>
        <p:nvSpPr>
          <p:cNvPr id="6" name="Rounded Rectangle 5"/>
          <p:cNvSpPr/>
          <p:nvPr/>
        </p:nvSpPr>
        <p:spPr>
          <a:xfrm>
            <a:off x="1920240" y="2926080"/>
            <a:ext cx="1645920" cy="914400"/>
          </a:xfrm>
          <a:prstGeom prst="roundRect">
            <a:avLst/>
          </a:prstGeom>
          <a:solidFill>
            <a:srgbClr val="238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920240" y="3182112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AI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60520" y="2926080"/>
            <a:ext cx="1645920" cy="914400"/>
          </a:xfrm>
          <a:prstGeom prst="roundRect">
            <a:avLst/>
          </a:prstGeom>
          <a:solidFill>
            <a:srgbClr val="4EAA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60520" y="3182112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DATA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926080"/>
            <a:ext cx="1645920" cy="914400"/>
          </a:xfrm>
          <a:prstGeom prst="roundRect">
            <a:avLst/>
          </a:prstGeom>
          <a:solidFill>
            <a:srgbClr val="F5B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3182112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1A2D42"/>
                </a:solidFill>
              </a:defRPr>
            </a:pPr>
            <a:r>
              <a:t>VISION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41080" y="2926080"/>
            <a:ext cx="1645920" cy="914400"/>
          </a:xfrm>
          <a:prstGeom prst="roundRect">
            <a:avLst/>
          </a:prstGeom>
          <a:solidFill>
            <a:srgbClr val="92C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25840" y="322326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1A2D42"/>
                </a:solidFill>
              </a:defRPr>
            </a:pPr>
            <a:r>
              <a:t>FARM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4617720"/>
            <a:ext cx="67665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 b="1">
                <a:solidFill>
                  <a:srgbClr val="414141"/>
                </a:solidFill>
              </a:defRPr>
            </a:pPr>
            <a:r>
              <a:rPr dirty="0"/>
              <a:t>Project Review – 2</a:t>
            </a:r>
          </a:p>
          <a:p>
            <a:pPr algn="ctr">
              <a:defRPr sz="1200">
                <a:solidFill>
                  <a:srgbClr val="737373"/>
                </a:solidFill>
              </a:defRPr>
            </a:pPr>
            <a:r>
              <a:rPr dirty="0"/>
              <a:t>Team Members: ____________________   |   Guide: ____________________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6446520"/>
            <a:ext cx="11155680" cy="16459"/>
          </a:xfrm>
          <a:prstGeom prst="rect">
            <a:avLst/>
          </a:prstGeom>
          <a:solidFill>
            <a:srgbClr val="D7E1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94360" y="6510528"/>
            <a:ext cx="2926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737373"/>
                </a:solidFill>
              </a:defRPr>
            </a:pPr>
            <a:r>
              <a:t>AGRI-INTELLIGENCE | REVIEW –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51052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737373"/>
                </a:solidFill>
              </a:defRPr>
            </a:pPr>
            <a:r>
              <a:t>1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E2088C09-8B8B-E0DA-D275-1B810B0B27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0608907"/>
              </p:ext>
            </p:extLst>
          </p:nvPr>
        </p:nvGraphicFramePr>
        <p:xfrm>
          <a:off x="2269744" y="4137660"/>
          <a:ext cx="81280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4235599552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8338473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Roll.No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08538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2420030614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B.Nagaraju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70465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2420030011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K.Rahul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06380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242003066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Likith Sai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32952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Name of the Guide: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DR.N.SUNANDA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284849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klh_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325880" cy="598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38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691640" y="256032"/>
            <a:ext cx="9966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A2D42"/>
                </a:solidFill>
                <a:latin typeface="Aptos Display"/>
              </a:defRPr>
            </a:pPr>
            <a: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25880"/>
            <a:ext cx="68580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50">
                <a:solidFill>
                  <a:srgbClr val="414141"/>
                </a:solidFill>
              </a:defRPr>
            </a:pPr>
            <a:r>
              <a:t>Farmers face difficulty choosing suitable crops for changing soil and weather conditions.</a:t>
            </a:r>
          </a:p>
          <a:p>
            <a:pPr>
              <a:spcAft>
                <a:spcPts val="1000"/>
              </a:spcAft>
              <a:defRPr sz="1550">
                <a:solidFill>
                  <a:srgbClr val="414141"/>
                </a:solidFill>
              </a:defRPr>
            </a:pPr>
            <a:r>
              <a:t>Crop diseases and pests may be detected too late, increasing crop losses.</a:t>
            </a:r>
          </a:p>
          <a:p>
            <a:pPr>
              <a:spcAft>
                <a:spcPts val="1000"/>
              </a:spcAft>
              <a:defRPr sz="1550">
                <a:solidFill>
                  <a:srgbClr val="414141"/>
                </a:solidFill>
              </a:defRPr>
            </a:pPr>
            <a:r>
              <a:t>Improper irrigation and fertilizer use can waste water, nutrients and money.</a:t>
            </a:r>
          </a:p>
          <a:p>
            <a:pPr>
              <a:spcAft>
                <a:spcPts val="1000"/>
              </a:spcAft>
              <a:defRPr sz="1550">
                <a:solidFill>
                  <a:srgbClr val="414141"/>
                </a:solidFill>
              </a:defRPr>
            </a:pPr>
            <a:r>
              <a:t>Yield is difficult to estimate accurately, while sudden weather changes can affect production.</a:t>
            </a:r>
          </a:p>
          <a:p>
            <a:pPr>
              <a:spcAft>
                <a:spcPts val="1000"/>
              </a:spcAft>
              <a:defRPr sz="1550">
                <a:solidFill>
                  <a:srgbClr val="414141"/>
                </a:solidFill>
              </a:defRPr>
            </a:pPr>
            <a:r>
              <a:t>Updated market information is not always easily available to farmers.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09560" y="1325880"/>
            <a:ext cx="338328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909560" y="1325880"/>
            <a:ext cx="73152" cy="841248"/>
          </a:xfrm>
          <a:prstGeom prst="rect">
            <a:avLst/>
          </a:prstGeom>
          <a:solidFill>
            <a:srgbClr val="238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92440" y="1453895"/>
            <a:ext cx="3063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A2D42"/>
                </a:solidFill>
              </a:defRPr>
            </a:pPr>
            <a:r>
              <a:t>SOIL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67489" y="1764791"/>
            <a:ext cx="306324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414141"/>
                </a:solidFill>
              </a:defRPr>
            </a:pPr>
            <a:r>
              <a:rPr dirty="0"/>
              <a:t>Crop choice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09560" y="2404872"/>
            <a:ext cx="338328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909560" y="2404872"/>
            <a:ext cx="73152" cy="841248"/>
          </a:xfrm>
          <a:prstGeom prst="rect">
            <a:avLst/>
          </a:prstGeom>
          <a:solidFill>
            <a:srgbClr val="4EAA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92440" y="2532888"/>
            <a:ext cx="1016881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A2D42"/>
                </a:solidFill>
              </a:defRPr>
            </a:pPr>
            <a:r>
              <a:rPr dirty="0"/>
              <a:t>WEATHER</a:t>
            </a:r>
            <a:r>
              <a:rPr lang="en-US" dirty="0"/>
              <a:t> </a:t>
            </a:r>
            <a:endParaRPr dirty="0"/>
          </a:p>
        </p:txBody>
      </p:sp>
      <p:sp>
        <p:nvSpPr>
          <p:cNvPr id="13" name="TextBox 12"/>
          <p:cNvSpPr txBox="1"/>
          <p:nvPr/>
        </p:nvSpPr>
        <p:spPr>
          <a:xfrm>
            <a:off x="8167489" y="2843783"/>
            <a:ext cx="306324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414141"/>
                </a:solidFill>
              </a:defRPr>
            </a:pPr>
            <a:r>
              <a:rPr dirty="0"/>
              <a:t>Climate risk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09560" y="3483863"/>
            <a:ext cx="338328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909560" y="3483863"/>
            <a:ext cx="73152" cy="841248"/>
          </a:xfrm>
          <a:prstGeom prst="rect">
            <a:avLst/>
          </a:prstGeom>
          <a:solidFill>
            <a:srgbClr val="F5B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92440" y="3611879"/>
            <a:ext cx="3063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A2D42"/>
                </a:solidFill>
              </a:defRPr>
            </a:pPr>
            <a:r>
              <a:t>HEALTH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3904487"/>
            <a:ext cx="306324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414141"/>
                </a:solidFill>
              </a:defRPr>
            </a:pPr>
            <a:r>
              <a:rPr dirty="0"/>
              <a:t>Disease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09560" y="4562856"/>
            <a:ext cx="338328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909560" y="4562856"/>
            <a:ext cx="73152" cy="841248"/>
          </a:xfrm>
          <a:prstGeom prst="rect">
            <a:avLst/>
          </a:prstGeom>
          <a:solidFill>
            <a:srgbClr val="92C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092440" y="4690872"/>
            <a:ext cx="3063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A2D42"/>
                </a:solidFill>
              </a:defRPr>
            </a:pPr>
            <a:r>
              <a:t>RESOURCES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67489" y="4946904"/>
            <a:ext cx="306324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414141"/>
                </a:solidFill>
              </a:defRPr>
            </a:pPr>
            <a:r>
              <a:rPr dirty="0"/>
              <a:t>Water + fertilizer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6446520"/>
            <a:ext cx="11155680" cy="16459"/>
          </a:xfrm>
          <a:prstGeom prst="rect">
            <a:avLst/>
          </a:prstGeom>
          <a:solidFill>
            <a:srgbClr val="D7E1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94360" y="6510528"/>
            <a:ext cx="2926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737373"/>
                </a:solidFill>
              </a:defRPr>
            </a:pPr>
            <a:r>
              <a:t>AGRI-INTELLIGENCE | REVIEW – 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81360" y="651052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737373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klh_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325880" cy="598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38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691640" y="256032"/>
            <a:ext cx="9966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A2D42"/>
                </a:solidFill>
                <a:latin typeface="Aptos Display"/>
              </a:defRPr>
            </a:pPr>
            <a:r>
              <a:t>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25880"/>
            <a:ext cx="68580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50">
                <a:solidFill>
                  <a:srgbClr val="414141"/>
                </a:solidFill>
              </a:defRPr>
            </a:pPr>
            <a:r>
              <a:t>Recommend suitable crops using soil and weather conditions.</a:t>
            </a:r>
          </a:p>
          <a:p>
            <a:pPr>
              <a:spcAft>
                <a:spcPts val="1000"/>
              </a:spcAft>
              <a:defRPr sz="1550">
                <a:solidFill>
                  <a:srgbClr val="414141"/>
                </a:solidFill>
              </a:defRPr>
            </a:pPr>
            <a:r>
              <a:t>Detect crop diseases and pests from plant images.</a:t>
            </a:r>
          </a:p>
          <a:p>
            <a:pPr>
              <a:spcAft>
                <a:spcPts val="1000"/>
              </a:spcAft>
              <a:defRPr sz="1550">
                <a:solidFill>
                  <a:srgbClr val="414141"/>
                </a:solidFill>
              </a:defRPr>
            </a:pPr>
            <a:r>
              <a:t>Suggest efficient irrigation and fertilizer practices.</a:t>
            </a:r>
          </a:p>
          <a:p>
            <a:pPr>
              <a:spcAft>
                <a:spcPts val="1000"/>
              </a:spcAft>
              <a:defRPr sz="1550">
                <a:solidFill>
                  <a:srgbClr val="414141"/>
                </a:solidFill>
              </a:defRPr>
            </a:pPr>
            <a:r>
              <a:t>Predict expected crop yield for better planning.</a:t>
            </a:r>
          </a:p>
          <a:p>
            <a:pPr>
              <a:spcAft>
                <a:spcPts val="1000"/>
              </a:spcAft>
              <a:defRPr sz="1550">
                <a:solidFill>
                  <a:srgbClr val="414141"/>
                </a:solidFill>
              </a:defRPr>
            </a:pPr>
            <a:r>
              <a:t>Provide weather alerts and crop market price information.</a:t>
            </a:r>
          </a:p>
          <a:p>
            <a:pPr>
              <a:spcAft>
                <a:spcPts val="1000"/>
              </a:spcAft>
              <a:defRPr sz="1550">
                <a:solidFill>
                  <a:srgbClr val="414141"/>
                </a:solidFill>
              </a:defRPr>
            </a:pPr>
            <a:r>
              <a:t>Support faster, smarter and data-driven farm decisions.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298448"/>
            <a:ext cx="306324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046720" y="1298448"/>
            <a:ext cx="73152" cy="694944"/>
          </a:xfrm>
          <a:prstGeom prst="rect">
            <a:avLst/>
          </a:prstGeom>
          <a:solidFill>
            <a:srgbClr val="238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0" y="1426464"/>
            <a:ext cx="27432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A2D42"/>
                </a:solidFill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58200" y="1536192"/>
            <a:ext cx="2743200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414141"/>
                </a:solidFill>
              </a:defRPr>
            </a:pPr>
            <a:r>
              <a:rPr dirty="0"/>
              <a:t>Crop Selection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2194560"/>
            <a:ext cx="306324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046720" y="2194560"/>
            <a:ext cx="73152" cy="694944"/>
          </a:xfrm>
          <a:prstGeom prst="rect">
            <a:avLst/>
          </a:prstGeom>
          <a:solidFill>
            <a:srgbClr val="F5B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0" y="2322576"/>
            <a:ext cx="27432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A2D42"/>
                </a:solidFill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58200" y="2432304"/>
            <a:ext cx="2743200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414141"/>
                </a:solidFill>
              </a:defRPr>
            </a:pPr>
            <a:r>
              <a:rPr dirty="0"/>
              <a:t>Disease Detection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3090672"/>
            <a:ext cx="306324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46720" y="3090672"/>
            <a:ext cx="73152" cy="694944"/>
          </a:xfrm>
          <a:prstGeom prst="rect">
            <a:avLst/>
          </a:prstGeom>
          <a:solidFill>
            <a:srgbClr val="4EAA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0" y="3218688"/>
            <a:ext cx="27432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A2D42"/>
                </a:solidFill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3291840"/>
            <a:ext cx="2743200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414141"/>
                </a:solidFill>
              </a:defRPr>
            </a:pPr>
            <a:r>
              <a:rPr dirty="0"/>
              <a:t>Resource Management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3986783"/>
            <a:ext cx="306324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046720" y="3986783"/>
            <a:ext cx="73152" cy="694944"/>
          </a:xfrm>
          <a:prstGeom prst="rect">
            <a:avLst/>
          </a:prstGeom>
          <a:solidFill>
            <a:srgbClr val="92C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9600" y="4114799"/>
            <a:ext cx="27432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A2D42"/>
                </a:solidFill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58200" y="4206240"/>
            <a:ext cx="2743200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414141"/>
                </a:solidFill>
              </a:defRPr>
            </a:pPr>
            <a:r>
              <a:rPr dirty="0"/>
              <a:t>Yield Prediction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6720" y="4882896"/>
            <a:ext cx="306324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046720" y="4882896"/>
            <a:ext cx="73152" cy="694944"/>
          </a:xfrm>
          <a:prstGeom prst="rect">
            <a:avLst/>
          </a:prstGeom>
          <a:solidFill>
            <a:srgbClr val="238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29600" y="5010912"/>
            <a:ext cx="27432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A2D42"/>
                </a:solidFill>
              </a:defRPr>
            </a:pPr>
            <a: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58200" y="5102352"/>
            <a:ext cx="2743200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414141"/>
                </a:solidFill>
              </a:defRPr>
            </a:pPr>
            <a:r>
              <a:rPr dirty="0"/>
              <a:t>Weather + Market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6446520"/>
            <a:ext cx="11155680" cy="16459"/>
          </a:xfrm>
          <a:prstGeom prst="rect">
            <a:avLst/>
          </a:prstGeom>
          <a:solidFill>
            <a:srgbClr val="D7E1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94360" y="6510528"/>
            <a:ext cx="2926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737373"/>
                </a:solidFill>
              </a:defRPr>
            </a:pPr>
            <a:r>
              <a:t>AGRI-INTELLIGENCE | REVIEW – 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81360" y="651052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737373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klh_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325880" cy="598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38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691640" y="256032"/>
            <a:ext cx="9966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A2D42"/>
                </a:solidFill>
                <a:latin typeface="Aptos Display"/>
              </a:defRPr>
            </a:pPr>
            <a:r>
              <a:t>Existing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25880"/>
            <a:ext cx="68580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50">
                <a:solidFill>
                  <a:srgbClr val="414141"/>
                </a:solidFill>
              </a:defRPr>
            </a:pPr>
            <a:r>
              <a:t>Crop recommendation systems use soil, climate and environmental parameters.</a:t>
            </a:r>
          </a:p>
          <a:p>
            <a:pPr>
              <a:spcAft>
                <a:spcPts val="1000"/>
              </a:spcAft>
              <a:defRPr sz="1550">
                <a:solidFill>
                  <a:srgbClr val="414141"/>
                </a:solidFill>
              </a:defRPr>
            </a:pPr>
            <a:r>
              <a:t>Plant disease systems use computer vision and deep learning on crop images.</a:t>
            </a:r>
          </a:p>
          <a:p>
            <a:pPr>
              <a:spcAft>
                <a:spcPts val="1000"/>
              </a:spcAft>
              <a:defRPr sz="1550">
                <a:solidFill>
                  <a:srgbClr val="414141"/>
                </a:solidFill>
              </a:defRPr>
            </a:pPr>
            <a:r>
              <a:t>Yield prediction systems use historical, soil, weather and environmental data.</a:t>
            </a:r>
          </a:p>
          <a:p>
            <a:pPr>
              <a:spcAft>
                <a:spcPts val="1000"/>
              </a:spcAft>
              <a:defRPr sz="1550">
                <a:solidFill>
                  <a:srgbClr val="414141"/>
                </a:solidFill>
              </a:defRPr>
            </a:pPr>
            <a:r>
              <a:t>Smart irrigation systems combine sensors, IoT and machine learning.</a:t>
            </a:r>
          </a:p>
          <a:p>
            <a:pPr>
              <a:spcAft>
                <a:spcPts val="1000"/>
              </a:spcAft>
              <a:defRPr sz="1550">
                <a:solidFill>
                  <a:srgbClr val="414141"/>
                </a:solidFill>
              </a:defRPr>
            </a:pPr>
            <a:r>
              <a:t>Market platforms use statistical or deep-learning models for price forecasting.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09560" y="1371600"/>
            <a:ext cx="15087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909560" y="1371600"/>
            <a:ext cx="73152" cy="1051560"/>
          </a:xfrm>
          <a:prstGeom prst="rect">
            <a:avLst/>
          </a:prstGeom>
          <a:solidFill>
            <a:srgbClr val="238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92440" y="1499616"/>
            <a:ext cx="118871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A2D42"/>
                </a:solidFill>
              </a:defRPr>
            </a:pPr>
            <a:r>
              <a:t>CROP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2440" y="1938528"/>
            <a:ext cx="1188719" cy="3566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414141"/>
                </a:solidFill>
              </a:defRPr>
            </a:pPr>
            <a:r>
              <a:t>Recommendation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555480" y="1371600"/>
            <a:ext cx="15087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9555480" y="1371600"/>
            <a:ext cx="73152" cy="1051560"/>
          </a:xfrm>
          <a:prstGeom prst="rect">
            <a:avLst/>
          </a:prstGeom>
          <a:solidFill>
            <a:srgbClr val="F5B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738360" y="1499616"/>
            <a:ext cx="118871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A2D42"/>
                </a:solidFill>
              </a:defRPr>
            </a:pPr>
            <a:r>
              <a:t>LEAF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38360" y="1938528"/>
            <a:ext cx="1188719" cy="3566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414141"/>
                </a:solidFill>
              </a:defRPr>
            </a:pPr>
            <a:r>
              <a:t>Disease Detection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09560" y="2788920"/>
            <a:ext cx="15087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909560" y="2788920"/>
            <a:ext cx="73152" cy="1051560"/>
          </a:xfrm>
          <a:prstGeom prst="rect">
            <a:avLst/>
          </a:prstGeom>
          <a:solidFill>
            <a:srgbClr val="4EAA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92440" y="2916936"/>
            <a:ext cx="118871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A2D42"/>
                </a:solidFill>
              </a:defRPr>
            </a:pPr>
            <a:r>
              <a:t>YIELD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2440" y="3355848"/>
            <a:ext cx="1188719" cy="3566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414141"/>
                </a:solidFill>
              </a:defRPr>
            </a:pPr>
            <a:r>
              <a:t>Prediction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555480" y="2788920"/>
            <a:ext cx="15087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555480" y="2788920"/>
            <a:ext cx="73152" cy="1051560"/>
          </a:xfrm>
          <a:prstGeom prst="rect">
            <a:avLst/>
          </a:prstGeom>
          <a:solidFill>
            <a:srgbClr val="92C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738360" y="2916936"/>
            <a:ext cx="118871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A2D42"/>
                </a:solidFill>
              </a:defRPr>
            </a:pPr>
            <a:r>
              <a:t>WATER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38360" y="3355848"/>
            <a:ext cx="1188719" cy="3566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414141"/>
                </a:solidFill>
              </a:defRPr>
            </a:pPr>
            <a:r>
              <a:t>Irrigation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9560" y="4206240"/>
            <a:ext cx="15087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909560" y="4206240"/>
            <a:ext cx="73152" cy="1051560"/>
          </a:xfrm>
          <a:prstGeom prst="rect">
            <a:avLst/>
          </a:prstGeom>
          <a:solidFill>
            <a:srgbClr val="238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092440" y="4334255"/>
            <a:ext cx="118871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A2D42"/>
                </a:solidFill>
              </a:defRPr>
            </a:pPr>
            <a:r>
              <a:t>PRICE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92440" y="4773168"/>
            <a:ext cx="1188719" cy="3566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414141"/>
                </a:solidFill>
              </a:defRPr>
            </a:pPr>
            <a:r>
              <a:t>Market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6446520"/>
            <a:ext cx="11155680" cy="16459"/>
          </a:xfrm>
          <a:prstGeom prst="rect">
            <a:avLst/>
          </a:prstGeom>
          <a:solidFill>
            <a:srgbClr val="D7E1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94360" y="6510528"/>
            <a:ext cx="2926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737373"/>
                </a:solidFill>
              </a:defRPr>
            </a:pPr>
            <a:r>
              <a:t>AGRI-INTELLIGENCE | REVIEW – 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81360" y="651052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737373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klh_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325880" cy="598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38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691640" y="256032"/>
            <a:ext cx="9966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A2D42"/>
                </a:solidFill>
                <a:latin typeface="Aptos Display"/>
              </a:defRPr>
            </a:pPr>
            <a:r>
              <a:t>Research Gap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25880"/>
            <a:ext cx="68580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50">
                <a:solidFill>
                  <a:srgbClr val="414141"/>
                </a:solidFill>
              </a:defRPr>
            </a:pPr>
            <a:r>
              <a:t>Most existing studies solve one agricultural task rather than the complete crop cycle.</a:t>
            </a:r>
          </a:p>
          <a:p>
            <a:pPr>
              <a:spcAft>
                <a:spcPts val="1000"/>
              </a:spcAft>
              <a:defRPr sz="1550">
                <a:solidFill>
                  <a:srgbClr val="414141"/>
                </a:solidFill>
              </a:defRPr>
            </a:pPr>
            <a:r>
              <a:t>Many disease models rely on controlled or crop-specific image datasets, limiting real-field generalization.</a:t>
            </a:r>
          </a:p>
          <a:p>
            <a:pPr>
              <a:spcAft>
                <a:spcPts val="1000"/>
              </a:spcAft>
              <a:defRPr sz="1550">
                <a:solidFill>
                  <a:srgbClr val="414141"/>
                </a:solidFill>
              </a:defRPr>
            </a:pPr>
            <a:r>
              <a:t>Yield, irrigation and market studies often use separate datasets and separate decision systems.</a:t>
            </a:r>
          </a:p>
          <a:p>
            <a:pPr>
              <a:spcAft>
                <a:spcPts val="1000"/>
              </a:spcAft>
              <a:defRPr sz="1550">
                <a:solidFill>
                  <a:srgbClr val="414141"/>
                </a:solidFill>
              </a:defRPr>
            </a:pPr>
            <a:r>
              <a:t>Regional or crop-specific models may not transfer directly to different farming conditions.</a:t>
            </a:r>
          </a:p>
          <a:p>
            <a:pPr>
              <a:spcAft>
                <a:spcPts val="1000"/>
              </a:spcAft>
              <a:defRPr sz="1550">
                <a:solidFill>
                  <a:srgbClr val="414141"/>
                </a:solidFill>
              </a:defRPr>
            </a:pPr>
            <a:r>
              <a:t>There is a need for an integrated, farmer-friendly platform combining multiple data sources and AI modules.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09560" y="1828800"/>
            <a:ext cx="3337560" cy="2651760"/>
          </a:xfrm>
          <a:prstGeom prst="round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183879" y="2176272"/>
            <a:ext cx="278892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5BF37"/>
                </a:solidFill>
              </a:defRPr>
            </a:pPr>
            <a:r>
              <a:t>NEED</a:t>
            </a:r>
          </a:p>
          <a:p>
            <a:pPr algn="ctr">
              <a:defRPr sz="1500" b="1">
                <a:solidFill>
                  <a:srgbClr val="FFFFFF"/>
                </a:solidFill>
              </a:defRPr>
            </a:pPr>
            <a:r>
              <a:t>Integrated</a:t>
            </a:r>
          </a:p>
          <a:p>
            <a:pPr algn="ctr">
              <a:defRPr sz="1500" b="1">
                <a:solidFill>
                  <a:srgbClr val="FFFFFF"/>
                </a:solidFill>
              </a:defRPr>
            </a:pPr>
            <a:r>
              <a:t>Multimodal</a:t>
            </a:r>
          </a:p>
          <a:p>
            <a:pPr algn="ctr">
              <a:defRPr sz="1500" b="1">
                <a:solidFill>
                  <a:srgbClr val="FFFFFF"/>
                </a:solidFill>
              </a:defRPr>
            </a:pPr>
            <a:r>
              <a:t>Farmer-Friendly</a:t>
            </a:r>
          </a:p>
          <a:p>
            <a:pPr algn="ctr">
              <a:defRPr sz="1500" b="1">
                <a:solidFill>
                  <a:srgbClr val="FFFFFF"/>
                </a:solidFill>
              </a:defRPr>
            </a:pPr>
            <a:r>
              <a:t>End-to-End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46520"/>
            <a:ext cx="11155680" cy="16459"/>
          </a:xfrm>
          <a:prstGeom prst="rect">
            <a:avLst/>
          </a:prstGeom>
          <a:solidFill>
            <a:srgbClr val="D7E1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6510528"/>
            <a:ext cx="2926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737373"/>
                </a:solidFill>
              </a:defRPr>
            </a:pPr>
            <a:r>
              <a:t>AGRI-INTELLIGENCE | REVIEW –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51052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737373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klh_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325880" cy="598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38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691640" y="256032"/>
            <a:ext cx="9966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A2D42"/>
                </a:solidFill>
                <a:latin typeface="Aptos Display"/>
              </a:defRPr>
            </a:pPr>
            <a:r>
              <a:t>Proposed Solution – Agri-Intelligence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25880"/>
            <a:ext cx="68580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50">
                <a:solidFill>
                  <a:srgbClr val="414141"/>
                </a:solidFill>
              </a:defRPr>
            </a:pPr>
            <a:r>
              <a:t>An integrated AI-based smart farming platform supporting farmers from crop selection to harvesting.</a:t>
            </a:r>
          </a:p>
          <a:p>
            <a:pPr>
              <a:spcAft>
                <a:spcPts val="1000"/>
              </a:spcAft>
              <a:defRPr sz="1550">
                <a:solidFill>
                  <a:srgbClr val="414141"/>
                </a:solidFill>
              </a:defRPr>
            </a:pPr>
            <a:r>
              <a:t>Combines soil data, weather information, crop images, yield history and market information.</a:t>
            </a:r>
          </a:p>
          <a:p>
            <a:pPr>
              <a:spcAft>
                <a:spcPts val="1000"/>
              </a:spcAft>
              <a:defRPr sz="1550">
                <a:solidFill>
                  <a:srgbClr val="414141"/>
                </a:solidFill>
              </a:defRPr>
            </a:pPr>
            <a:r>
              <a:t>Uses machine learning for recommendations and prediction, and computer vision for crop-health analysis.</a:t>
            </a:r>
          </a:p>
          <a:p>
            <a:pPr>
              <a:spcAft>
                <a:spcPts val="1000"/>
              </a:spcAft>
              <a:defRPr sz="1550">
                <a:solidFill>
                  <a:srgbClr val="414141"/>
                </a:solidFill>
              </a:defRPr>
            </a:pPr>
            <a:r>
              <a:t>Provides actionable outputs through a simple farmer-facing dashboard.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09560" y="1325880"/>
            <a:ext cx="333756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909560" y="1325880"/>
            <a:ext cx="73152" cy="749808"/>
          </a:xfrm>
          <a:prstGeom prst="rect">
            <a:avLst/>
          </a:prstGeom>
          <a:solidFill>
            <a:srgbClr val="238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92440" y="1453895"/>
            <a:ext cx="30175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A2D42"/>
                </a:solidFill>
              </a:defRPr>
            </a:pPr>
            <a:r>
              <a:t>SOIL + WEATHER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2440" y="1892807"/>
            <a:ext cx="3017520" cy="548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414141"/>
                </a:solidFill>
              </a:defRPr>
            </a:pPr>
            <a:r>
              <a:t>Inputs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09560" y="2286000"/>
            <a:ext cx="333756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909560" y="2286000"/>
            <a:ext cx="73152" cy="749808"/>
          </a:xfrm>
          <a:prstGeom prst="rect">
            <a:avLst/>
          </a:prstGeom>
          <a:solidFill>
            <a:srgbClr val="4EAA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92440" y="2414016"/>
            <a:ext cx="30175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A2D42"/>
                </a:solidFill>
              </a:defRPr>
            </a:pPr>
            <a:r>
              <a:t>AI / ML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2440" y="2852928"/>
            <a:ext cx="3017520" cy="548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414141"/>
                </a:solidFill>
              </a:defRPr>
            </a:pPr>
            <a:r>
              <a:t>Intelligence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09560" y="3246120"/>
            <a:ext cx="333756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909560" y="3246120"/>
            <a:ext cx="73152" cy="749808"/>
          </a:xfrm>
          <a:prstGeom prst="rect">
            <a:avLst/>
          </a:prstGeom>
          <a:solidFill>
            <a:srgbClr val="F5B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92440" y="3374136"/>
            <a:ext cx="30175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A2D42"/>
                </a:solidFill>
              </a:defRPr>
            </a:pPr>
            <a:r>
              <a:t>VISION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2440" y="3813048"/>
            <a:ext cx="3017520" cy="548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414141"/>
                </a:solidFill>
              </a:defRPr>
            </a:pPr>
            <a:r>
              <a:t>Crop Health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09560" y="4206240"/>
            <a:ext cx="333756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909560" y="4206240"/>
            <a:ext cx="73152" cy="749808"/>
          </a:xfrm>
          <a:prstGeom prst="rect">
            <a:avLst/>
          </a:prstGeom>
          <a:solidFill>
            <a:srgbClr val="92C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092440" y="4334256"/>
            <a:ext cx="30175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A2D42"/>
                </a:solidFill>
              </a:defRPr>
            </a:pPr>
            <a:r>
              <a:t>DASHBOARD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92440" y="4773168"/>
            <a:ext cx="3017520" cy="548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414141"/>
                </a:solidFill>
              </a:defRPr>
            </a:pPr>
            <a:r>
              <a:t>Decisions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6446520"/>
            <a:ext cx="11155680" cy="16459"/>
          </a:xfrm>
          <a:prstGeom prst="rect">
            <a:avLst/>
          </a:prstGeom>
          <a:solidFill>
            <a:srgbClr val="D7E1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94360" y="6510528"/>
            <a:ext cx="2926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737373"/>
                </a:solidFill>
              </a:defRPr>
            </a:pPr>
            <a:r>
              <a:t>AGRI-INTELLIGENCE | REVIEW – 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81360" y="651052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737373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klh_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325880" cy="598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38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691640" y="256032"/>
            <a:ext cx="9966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A2D42"/>
                </a:solidFill>
                <a:latin typeface="Aptos Display"/>
              </a:defRPr>
            </a:pPr>
            <a:r>
              <a:t>System Architecture /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25880"/>
            <a:ext cx="68580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50">
                <a:solidFill>
                  <a:srgbClr val="414141"/>
                </a:solidFill>
              </a:defRPr>
            </a:pPr>
            <a:r>
              <a:t>Data Layer → Soil, weather, crop images, historical yield and market data.</a:t>
            </a:r>
          </a:p>
          <a:p>
            <a:pPr>
              <a:spcAft>
                <a:spcPts val="1000"/>
              </a:spcAft>
              <a:defRPr sz="1550">
                <a:solidFill>
                  <a:srgbClr val="414141"/>
                </a:solidFill>
              </a:defRPr>
            </a:pPr>
            <a:r>
              <a:t>AI Layer → Crop recommendation, disease/pest detection and yield prediction.</a:t>
            </a:r>
          </a:p>
          <a:p>
            <a:pPr>
              <a:spcAft>
                <a:spcPts val="1000"/>
              </a:spcAft>
              <a:defRPr sz="1550">
                <a:solidFill>
                  <a:srgbClr val="414141"/>
                </a:solidFill>
              </a:defRPr>
            </a:pPr>
            <a:r>
              <a:t>Decision Layer → Irrigation, fertilizer, weather and market guidance.</a:t>
            </a:r>
          </a:p>
          <a:p>
            <a:pPr>
              <a:spcAft>
                <a:spcPts val="1000"/>
              </a:spcAft>
              <a:defRPr sz="1550">
                <a:solidFill>
                  <a:srgbClr val="414141"/>
                </a:solidFill>
              </a:defRPr>
            </a:pPr>
            <a:r>
              <a:t>User Layer → Farmer dashboard with recommendations, alerts and insights.</a:t>
            </a:r>
          </a:p>
          <a:p>
            <a:pPr>
              <a:spcAft>
                <a:spcPts val="1000"/>
              </a:spcAft>
              <a:defRPr sz="1550">
                <a:solidFill>
                  <a:srgbClr val="414141"/>
                </a:solidFill>
              </a:defRPr>
            </a:pPr>
            <a:r>
              <a:t>Feedback → Updated data can improve future recommendations and planning.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09560" y="1371600"/>
            <a:ext cx="150876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909560" y="1371600"/>
            <a:ext cx="73152" cy="1188720"/>
          </a:xfrm>
          <a:prstGeom prst="rect">
            <a:avLst/>
          </a:prstGeom>
          <a:solidFill>
            <a:srgbClr val="238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92440" y="1499616"/>
            <a:ext cx="118871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A2D42"/>
                </a:solidFill>
              </a:defRPr>
            </a:pPr>
            <a:r>
              <a:t>INPUTS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2440" y="1938528"/>
            <a:ext cx="1188719" cy="493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414141"/>
                </a:solidFill>
              </a:defRPr>
            </a:pPr>
            <a:r>
              <a:t>Soil • Weather</a:t>
            </a:r>
            <a:br/>
            <a:r>
              <a:t>Images • Market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46920" y="1371600"/>
            <a:ext cx="150876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9646920" y="1371600"/>
            <a:ext cx="73152" cy="1188720"/>
          </a:xfrm>
          <a:prstGeom prst="rect">
            <a:avLst/>
          </a:prstGeom>
          <a:solidFill>
            <a:srgbClr val="4EAA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829800" y="1499616"/>
            <a:ext cx="118871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A2D42"/>
                </a:solidFill>
              </a:defRPr>
            </a:pPr>
            <a:r>
              <a:t>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29800" y="1938528"/>
            <a:ext cx="1188719" cy="493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414141"/>
                </a:solidFill>
              </a:defRPr>
            </a:pPr>
            <a:r>
              <a:t>ML • CV</a:t>
            </a:r>
            <a:br/>
            <a:r>
              <a:t>Prediction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09560" y="2880360"/>
            <a:ext cx="150876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909560" y="2880360"/>
            <a:ext cx="73152" cy="1188720"/>
          </a:xfrm>
          <a:prstGeom prst="rect">
            <a:avLst/>
          </a:prstGeom>
          <a:solidFill>
            <a:srgbClr val="F5B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92440" y="3008376"/>
            <a:ext cx="118871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A2D42"/>
                </a:solidFill>
              </a:defRPr>
            </a:pPr>
            <a:r>
              <a:t>DECISIONS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2440" y="3447288"/>
            <a:ext cx="1188719" cy="493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414141"/>
                </a:solidFill>
              </a:defRPr>
            </a:pPr>
            <a:r>
              <a:t>Irrigation • Yield</a:t>
            </a:r>
            <a:br/>
            <a:r>
              <a:t>Alerts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46920" y="2880360"/>
            <a:ext cx="150876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646920" y="2880360"/>
            <a:ext cx="73152" cy="1188720"/>
          </a:xfrm>
          <a:prstGeom prst="rect">
            <a:avLst/>
          </a:prstGeom>
          <a:solidFill>
            <a:srgbClr val="92C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829800" y="3008376"/>
            <a:ext cx="118871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A2D42"/>
                </a:solidFill>
              </a:defRPr>
            </a:pPr>
            <a:r>
              <a:t>FARMER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29800" y="3447288"/>
            <a:ext cx="1188719" cy="493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414141"/>
                </a:solidFill>
              </a:defRPr>
            </a:pPr>
            <a:r>
              <a:t>Dashboard</a:t>
            </a:r>
            <a:br/>
            <a:r>
              <a:t>Recommendations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6446520"/>
            <a:ext cx="11155680" cy="16459"/>
          </a:xfrm>
          <a:prstGeom prst="rect">
            <a:avLst/>
          </a:prstGeom>
          <a:solidFill>
            <a:srgbClr val="D7E1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94360" y="6510528"/>
            <a:ext cx="2926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737373"/>
                </a:solidFill>
              </a:defRPr>
            </a:pPr>
            <a:r>
              <a:t>AGRI-INTELLIGENCE | REVIEW – 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81360" y="651052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737373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klh_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325880" cy="598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38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691640" y="256032"/>
            <a:ext cx="9966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A2D42"/>
                </a:solidFill>
                <a:latin typeface="Aptos Display"/>
              </a:defRPr>
            </a:pPr>
            <a:r>
              <a:t>Technologies Used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25880"/>
            <a:ext cx="68580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50">
                <a:solidFill>
                  <a:srgbClr val="414141"/>
                </a:solidFill>
              </a:defRPr>
            </a:pPr>
            <a:r>
              <a:t>Frontend: HTML, CSS, JavaScript / responsive web interface.</a:t>
            </a:r>
          </a:p>
          <a:p>
            <a:pPr>
              <a:spcAft>
                <a:spcPts val="1000"/>
              </a:spcAft>
              <a:defRPr sz="1450">
                <a:solidFill>
                  <a:srgbClr val="414141"/>
                </a:solidFill>
              </a:defRPr>
            </a:pPr>
            <a:r>
              <a:t>Backend: Python with Flask or FastAPI and REST APIs.</a:t>
            </a:r>
          </a:p>
          <a:p>
            <a:pPr>
              <a:spcAft>
                <a:spcPts val="1000"/>
              </a:spcAft>
              <a:defRPr sz="1450">
                <a:solidFill>
                  <a:srgbClr val="414141"/>
                </a:solidFill>
              </a:defRPr>
            </a:pPr>
            <a:r>
              <a:t>Machine Learning: Scikit-learn, Random Forest, regression and classification models.</a:t>
            </a:r>
          </a:p>
          <a:p>
            <a:pPr>
              <a:spcAft>
                <a:spcPts val="1000"/>
              </a:spcAft>
              <a:defRPr sz="1450">
                <a:solidFill>
                  <a:srgbClr val="414141"/>
                </a:solidFill>
              </a:defRPr>
            </a:pPr>
            <a:r>
              <a:t>Computer Vision: OpenCV and deep-learning models for disease/pest detection.</a:t>
            </a:r>
          </a:p>
          <a:p>
            <a:pPr>
              <a:spcAft>
                <a:spcPts val="1000"/>
              </a:spcAft>
              <a:defRPr sz="1450">
                <a:solidFill>
                  <a:srgbClr val="414141"/>
                </a:solidFill>
              </a:defRPr>
            </a:pPr>
            <a:r>
              <a:t>Data &amp; APIs: Weather APIs, agricultural datasets and market-price sources.</a:t>
            </a:r>
          </a:p>
          <a:p>
            <a:pPr>
              <a:spcAft>
                <a:spcPts val="1000"/>
              </a:spcAft>
              <a:defRPr sz="1450">
                <a:solidFill>
                  <a:srgbClr val="414141"/>
                </a:solidFill>
              </a:defRPr>
            </a:pPr>
            <a:r>
              <a:t>Database: MySQL or MongoDB for storing farm, user and prediction data.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09560" y="1417320"/>
            <a:ext cx="150876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909560" y="1417320"/>
            <a:ext cx="73152" cy="1097280"/>
          </a:xfrm>
          <a:prstGeom prst="rect">
            <a:avLst/>
          </a:prstGeom>
          <a:solidFill>
            <a:srgbClr val="238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92440" y="1545336"/>
            <a:ext cx="118871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A2D42"/>
                </a:solidFill>
              </a:defRPr>
            </a:pPr>
            <a:r>
              <a:t>PYTHON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2440" y="1984248"/>
            <a:ext cx="1188719" cy="40233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414141"/>
                </a:solidFill>
              </a:defRPr>
            </a:pPr>
            <a:r>
              <a:t>Backend / ML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555480" y="1417320"/>
            <a:ext cx="150876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9555480" y="1417320"/>
            <a:ext cx="73152" cy="1097280"/>
          </a:xfrm>
          <a:prstGeom prst="rect">
            <a:avLst/>
          </a:prstGeom>
          <a:solidFill>
            <a:srgbClr val="4EAA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738360" y="1545336"/>
            <a:ext cx="118871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A2D42"/>
                </a:solidFill>
              </a:defRPr>
            </a:pPr>
            <a:r>
              <a:t>SCIKIT-LEARN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38360" y="1984248"/>
            <a:ext cx="1188719" cy="40233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414141"/>
                </a:solidFill>
              </a:defRPr>
            </a:pPr>
            <a:r>
              <a:t>ML models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09560" y="2834640"/>
            <a:ext cx="150876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909560" y="2834640"/>
            <a:ext cx="73152" cy="1097280"/>
          </a:xfrm>
          <a:prstGeom prst="rect">
            <a:avLst/>
          </a:prstGeom>
          <a:solidFill>
            <a:srgbClr val="F5B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92440" y="2962656"/>
            <a:ext cx="118871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A2D42"/>
                </a:solidFill>
              </a:defRPr>
            </a:pPr>
            <a:r>
              <a:t>OPENCV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2440" y="3401568"/>
            <a:ext cx="1188719" cy="40233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414141"/>
                </a:solidFill>
              </a:defRPr>
            </a:pPr>
            <a:r>
              <a:t>Image processing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555480" y="2834640"/>
            <a:ext cx="150876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555480" y="2834640"/>
            <a:ext cx="73152" cy="1097280"/>
          </a:xfrm>
          <a:prstGeom prst="rect">
            <a:avLst/>
          </a:prstGeom>
          <a:solidFill>
            <a:srgbClr val="92C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738360" y="2962656"/>
            <a:ext cx="118871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A2D42"/>
                </a:solidFill>
              </a:defRPr>
            </a:pPr>
            <a:r>
              <a:t>API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38360" y="3401568"/>
            <a:ext cx="1188719" cy="40233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414141"/>
                </a:solidFill>
              </a:defRPr>
            </a:pPr>
            <a:r>
              <a:t>Weather / Market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6446520"/>
            <a:ext cx="11155680" cy="16459"/>
          </a:xfrm>
          <a:prstGeom prst="rect">
            <a:avLst/>
          </a:prstGeom>
          <a:solidFill>
            <a:srgbClr val="D7E1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94360" y="6510528"/>
            <a:ext cx="2926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737373"/>
                </a:solidFill>
              </a:defRPr>
            </a:pPr>
            <a:r>
              <a:t>AGRI-INTELLIGENCE | REVIEW – 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81360" y="651052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737373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klh_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325880" cy="598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38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691640" y="256032"/>
            <a:ext cx="9966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A2D42"/>
                </a:solidFill>
                <a:latin typeface="Aptos Display"/>
              </a:defRPr>
            </a:pPr>
            <a:r>
              <a:t>Expected Outcomes &amp;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25880"/>
            <a:ext cx="68580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50">
                <a:solidFill>
                  <a:srgbClr val="414141"/>
                </a:solidFill>
              </a:defRPr>
            </a:pPr>
            <a:r>
              <a:t>Suitable crop recommendations based on soil and weather conditions.</a:t>
            </a:r>
          </a:p>
          <a:p>
            <a:pPr>
              <a:spcAft>
                <a:spcPts val="1000"/>
              </a:spcAft>
              <a:defRPr sz="1550">
                <a:solidFill>
                  <a:srgbClr val="414141"/>
                </a:solidFill>
              </a:defRPr>
            </a:pPr>
            <a:r>
              <a:t>Early identification of crop diseases and pests.</a:t>
            </a:r>
          </a:p>
          <a:p>
            <a:pPr>
              <a:spcAft>
                <a:spcPts val="1000"/>
              </a:spcAft>
              <a:defRPr sz="1550">
                <a:solidFill>
                  <a:srgbClr val="414141"/>
                </a:solidFill>
              </a:defRPr>
            </a:pPr>
            <a:r>
              <a:t>Better irrigation and fertilizer management.</a:t>
            </a:r>
          </a:p>
          <a:p>
            <a:pPr>
              <a:spcAft>
                <a:spcPts val="1000"/>
              </a:spcAft>
              <a:defRPr sz="1550">
                <a:solidFill>
                  <a:srgbClr val="414141"/>
                </a:solidFill>
              </a:defRPr>
            </a:pPr>
            <a:r>
              <a:t>Estimated yield for improved planning and resource allocation.</a:t>
            </a:r>
          </a:p>
          <a:p>
            <a:pPr>
              <a:spcAft>
                <a:spcPts val="1000"/>
              </a:spcAft>
              <a:defRPr sz="1550">
                <a:solidFill>
                  <a:srgbClr val="414141"/>
                </a:solidFill>
              </a:defRPr>
            </a:pPr>
            <a:r>
              <a:t>Timely weather alerts and market price information.</a:t>
            </a:r>
          </a:p>
          <a:p>
            <a:pPr>
              <a:spcAft>
                <a:spcPts val="1000"/>
              </a:spcAft>
              <a:defRPr sz="1550">
                <a:solidFill>
                  <a:srgbClr val="414141"/>
                </a:solidFill>
              </a:defRPr>
            </a:pPr>
            <a:r>
              <a:t>Reduced crop losses and unnecessary resource usage.</a:t>
            </a:r>
          </a:p>
          <a:p>
            <a:pPr>
              <a:spcAft>
                <a:spcPts val="1000"/>
              </a:spcAft>
              <a:defRPr sz="1550">
                <a:solidFill>
                  <a:srgbClr val="414141"/>
                </a:solidFill>
              </a:defRPr>
            </a:pPr>
            <a:r>
              <a:t>Improved farmer decision-making, productivity and sustainability.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79" y="1645920"/>
            <a:ext cx="3154680" cy="3474720"/>
          </a:xfrm>
          <a:prstGeom prst="roundRect">
            <a:avLst/>
          </a:prstGeom>
          <a:solidFill>
            <a:srgbClr val="125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11312" y="2011680"/>
            <a:ext cx="2651760" cy="2651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100" b="1">
                <a:solidFill>
                  <a:srgbClr val="F5BF37"/>
                </a:solidFill>
              </a:defRPr>
            </a:pPr>
            <a:r>
              <a:t>IMPACT</a:t>
            </a:r>
          </a:p>
          <a:p>
            <a:pPr algn="ctr">
              <a:spcBef>
                <a:spcPts val="1000"/>
              </a:spcBef>
              <a:defRPr sz="1400">
                <a:solidFill>
                  <a:srgbClr val="FFFFFF"/>
                </a:solidFill>
              </a:defRPr>
            </a:pPr>
            <a:r>
              <a:t>Smarter decisions</a:t>
            </a:r>
          </a:p>
          <a:p>
            <a:pPr algn="ctr">
              <a:spcBef>
                <a:spcPts val="1000"/>
              </a:spcBef>
              <a:defRPr sz="1400">
                <a:solidFill>
                  <a:srgbClr val="FFFFFF"/>
                </a:solidFill>
              </a:defRPr>
            </a:pPr>
            <a:r>
              <a:t>Lower losses</a:t>
            </a:r>
          </a:p>
          <a:p>
            <a:pPr algn="ctr">
              <a:spcBef>
                <a:spcPts val="1000"/>
              </a:spcBef>
              <a:defRPr sz="1400">
                <a:solidFill>
                  <a:srgbClr val="FFFFFF"/>
                </a:solidFill>
              </a:defRPr>
            </a:pPr>
            <a:r>
              <a:t>Efficient resources</a:t>
            </a:r>
          </a:p>
          <a:p>
            <a:pPr algn="ctr">
              <a:spcBef>
                <a:spcPts val="1000"/>
              </a:spcBef>
              <a:defRPr sz="1400">
                <a:solidFill>
                  <a:srgbClr val="FFFFFF"/>
                </a:solidFill>
              </a:defRPr>
            </a:pPr>
            <a:r>
              <a:t>Sustainable farming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46520"/>
            <a:ext cx="11155680" cy="16459"/>
          </a:xfrm>
          <a:prstGeom prst="rect">
            <a:avLst/>
          </a:prstGeom>
          <a:solidFill>
            <a:srgbClr val="D7E1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6510528"/>
            <a:ext cx="2926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737373"/>
                </a:solidFill>
              </a:defRPr>
            </a:pPr>
            <a:r>
              <a:t>AGRI-INTELLIGENCE | REVIEW –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51052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737373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klh_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325880" cy="598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38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691640" y="256032"/>
            <a:ext cx="9966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A2D42"/>
                </a:solidFill>
                <a:latin typeface="Aptos Display"/>
              </a:defRPr>
            </a:pPr>
            <a:r>
              <a:t>Literature Survey – Existing Research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09928" y="768096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238250"/>
                </a:solidFill>
              </a:defRPr>
            </a:pPr>
            <a:r>
              <a:t>18 peer-reviewed / indexed studies • 2020 onwards • Part 1</a:t>
            </a:r>
          </a:p>
        </p:txBody>
      </p:sp>
      <p:sp>
        <p:nvSpPr>
          <p:cNvPr id="206" name="Rectangle 205"/>
          <p:cNvSpPr/>
          <p:nvPr/>
        </p:nvSpPr>
        <p:spPr>
          <a:xfrm>
            <a:off x="502920" y="6446520"/>
            <a:ext cx="11155680" cy="16459"/>
          </a:xfrm>
          <a:prstGeom prst="rect">
            <a:avLst/>
          </a:prstGeom>
          <a:solidFill>
            <a:srgbClr val="D7E1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7" name="TextBox 206"/>
          <p:cNvSpPr txBox="1"/>
          <p:nvPr/>
        </p:nvSpPr>
        <p:spPr>
          <a:xfrm>
            <a:off x="594360" y="6510528"/>
            <a:ext cx="2926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737373"/>
                </a:solidFill>
              </a:defRPr>
            </a:pPr>
            <a:r>
              <a:t>AGRI-INTELLIGENCE | REVIEW – 2</a:t>
            </a:r>
          </a:p>
        </p:txBody>
      </p:sp>
      <p:sp>
        <p:nvSpPr>
          <p:cNvPr id="208" name="TextBox 207"/>
          <p:cNvSpPr txBox="1"/>
          <p:nvPr/>
        </p:nvSpPr>
        <p:spPr>
          <a:xfrm>
            <a:off x="10881360" y="651052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737373"/>
                </a:solidFill>
              </a:defRPr>
            </a:pPr>
            <a:r>
              <a:t>10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1737360" y="914400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38250"/>
                </a:solidFill>
              </a:defRPr>
            </a:pPr>
            <a:r>
              <a:t>18 selected research papers • 2020 onwards • Literature Survey – Part 1</a:t>
            </a:r>
          </a:p>
        </p:txBody>
      </p:sp>
      <p:sp>
        <p:nvSpPr>
          <p:cNvPr id="210" name="Rectangle 209"/>
          <p:cNvSpPr/>
          <p:nvPr/>
        </p:nvSpPr>
        <p:spPr>
          <a:xfrm>
            <a:off x="502920" y="1298448"/>
            <a:ext cx="438912" cy="566928"/>
          </a:xfrm>
          <a:prstGeom prst="rect">
            <a:avLst/>
          </a:prstGeom>
          <a:solidFill>
            <a:srgbClr val="12523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1" name="TextBox 210"/>
          <p:cNvSpPr txBox="1"/>
          <p:nvPr/>
        </p:nvSpPr>
        <p:spPr>
          <a:xfrm>
            <a:off x="539496" y="1344168"/>
            <a:ext cx="365759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S.No.</a:t>
            </a:r>
            <a:br/>
            <a:r>
              <a:t>Year</a:t>
            </a:r>
          </a:p>
        </p:txBody>
      </p:sp>
      <p:sp>
        <p:nvSpPr>
          <p:cNvPr id="212" name="Rectangle 211"/>
          <p:cNvSpPr/>
          <p:nvPr/>
        </p:nvSpPr>
        <p:spPr>
          <a:xfrm>
            <a:off x="941832" y="1298448"/>
            <a:ext cx="1234440" cy="566928"/>
          </a:xfrm>
          <a:prstGeom prst="rect">
            <a:avLst/>
          </a:prstGeom>
          <a:solidFill>
            <a:srgbClr val="12523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3" name="TextBox 212"/>
          <p:cNvSpPr txBox="1"/>
          <p:nvPr/>
        </p:nvSpPr>
        <p:spPr>
          <a:xfrm>
            <a:off x="978408" y="1344168"/>
            <a:ext cx="1161288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Authors</a:t>
            </a:r>
          </a:p>
        </p:txBody>
      </p:sp>
      <p:sp>
        <p:nvSpPr>
          <p:cNvPr id="214" name="Rectangle 213"/>
          <p:cNvSpPr/>
          <p:nvPr/>
        </p:nvSpPr>
        <p:spPr>
          <a:xfrm>
            <a:off x="2176272" y="1298448"/>
            <a:ext cx="2514600" cy="566928"/>
          </a:xfrm>
          <a:prstGeom prst="rect">
            <a:avLst/>
          </a:prstGeom>
          <a:solidFill>
            <a:srgbClr val="12523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5" name="TextBox 214"/>
          <p:cNvSpPr txBox="1"/>
          <p:nvPr/>
        </p:nvSpPr>
        <p:spPr>
          <a:xfrm>
            <a:off x="2212848" y="1344168"/>
            <a:ext cx="2441448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Research Paper</a:t>
            </a:r>
          </a:p>
        </p:txBody>
      </p:sp>
      <p:sp>
        <p:nvSpPr>
          <p:cNvPr id="216" name="Rectangle 215"/>
          <p:cNvSpPr/>
          <p:nvPr/>
        </p:nvSpPr>
        <p:spPr>
          <a:xfrm>
            <a:off x="4690872" y="1298448"/>
            <a:ext cx="1874519" cy="566928"/>
          </a:xfrm>
          <a:prstGeom prst="rect">
            <a:avLst/>
          </a:prstGeom>
          <a:solidFill>
            <a:srgbClr val="12523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7" name="TextBox 216"/>
          <p:cNvSpPr txBox="1"/>
          <p:nvPr/>
        </p:nvSpPr>
        <p:spPr>
          <a:xfrm>
            <a:off x="4727448" y="1344168"/>
            <a:ext cx="1801367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Method / Model</a:t>
            </a:r>
          </a:p>
        </p:txBody>
      </p:sp>
      <p:sp>
        <p:nvSpPr>
          <p:cNvPr id="218" name="Rectangle 217"/>
          <p:cNvSpPr/>
          <p:nvPr/>
        </p:nvSpPr>
        <p:spPr>
          <a:xfrm>
            <a:off x="6565391" y="1298448"/>
            <a:ext cx="2148840" cy="566928"/>
          </a:xfrm>
          <a:prstGeom prst="rect">
            <a:avLst/>
          </a:prstGeom>
          <a:solidFill>
            <a:srgbClr val="12523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9" name="TextBox 218"/>
          <p:cNvSpPr txBox="1"/>
          <p:nvPr/>
        </p:nvSpPr>
        <p:spPr>
          <a:xfrm>
            <a:off x="6601967" y="1344168"/>
            <a:ext cx="2075688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Key Findings</a:t>
            </a:r>
          </a:p>
        </p:txBody>
      </p:sp>
      <p:sp>
        <p:nvSpPr>
          <p:cNvPr id="220" name="Rectangle 219"/>
          <p:cNvSpPr/>
          <p:nvPr/>
        </p:nvSpPr>
        <p:spPr>
          <a:xfrm>
            <a:off x="8714231" y="1298448"/>
            <a:ext cx="2971800" cy="566928"/>
          </a:xfrm>
          <a:prstGeom prst="rect">
            <a:avLst/>
          </a:prstGeom>
          <a:solidFill>
            <a:srgbClr val="12523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1" name="TextBox 220"/>
          <p:cNvSpPr txBox="1"/>
          <p:nvPr/>
        </p:nvSpPr>
        <p:spPr>
          <a:xfrm>
            <a:off x="8750807" y="1344168"/>
            <a:ext cx="2898648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Research Gap / DOI</a:t>
            </a:r>
          </a:p>
        </p:txBody>
      </p:sp>
      <p:sp>
        <p:nvSpPr>
          <p:cNvPr id="222" name="Rectangle 221"/>
          <p:cNvSpPr/>
          <p:nvPr/>
        </p:nvSpPr>
        <p:spPr>
          <a:xfrm>
            <a:off x="502920" y="1865376"/>
            <a:ext cx="438912" cy="475488"/>
          </a:xfrm>
          <a:prstGeom prst="rect">
            <a:avLst/>
          </a:prstGeom>
          <a:solidFill>
            <a:srgbClr val="FFFFFF"/>
          </a:solidFill>
          <a:ln>
            <a:solidFill>
              <a:srgbClr val="CDDA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3" name="TextBox 222"/>
          <p:cNvSpPr txBox="1"/>
          <p:nvPr/>
        </p:nvSpPr>
        <p:spPr>
          <a:xfrm>
            <a:off x="544068" y="1897380"/>
            <a:ext cx="3566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10" b="0">
                <a:solidFill>
                  <a:srgbClr val="1A2D42"/>
                </a:solidFill>
                <a:latin typeface="Aptos"/>
              </a:defRPr>
            </a:pPr>
            <a:r>
              <a:t>1</a:t>
            </a:r>
            <a:br/>
            <a:r>
              <a:t>2021</a:t>
            </a:r>
          </a:p>
        </p:txBody>
      </p:sp>
      <p:sp>
        <p:nvSpPr>
          <p:cNvPr id="224" name="Rectangle 223"/>
          <p:cNvSpPr/>
          <p:nvPr/>
        </p:nvSpPr>
        <p:spPr>
          <a:xfrm>
            <a:off x="941832" y="1865376"/>
            <a:ext cx="1234440" cy="475488"/>
          </a:xfrm>
          <a:prstGeom prst="rect">
            <a:avLst/>
          </a:prstGeom>
          <a:solidFill>
            <a:srgbClr val="FFFFFF"/>
          </a:solidFill>
          <a:ln>
            <a:solidFill>
              <a:srgbClr val="CDDA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5" name="TextBox 224"/>
          <p:cNvSpPr txBox="1"/>
          <p:nvPr/>
        </p:nvSpPr>
        <p:spPr>
          <a:xfrm>
            <a:off x="982980" y="1897380"/>
            <a:ext cx="11521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10" b="0">
                <a:solidFill>
                  <a:srgbClr val="1A2D42"/>
                </a:solidFill>
                <a:latin typeface="Aptos"/>
              </a:defRPr>
            </a:pPr>
            <a:r>
              <a:t>Halle et al.</a:t>
            </a:r>
          </a:p>
        </p:txBody>
      </p:sp>
      <p:sp>
        <p:nvSpPr>
          <p:cNvPr id="226" name="Rectangle 225"/>
          <p:cNvSpPr/>
          <p:nvPr/>
        </p:nvSpPr>
        <p:spPr>
          <a:xfrm>
            <a:off x="2176272" y="1865376"/>
            <a:ext cx="2514600" cy="475488"/>
          </a:xfrm>
          <a:prstGeom prst="rect">
            <a:avLst/>
          </a:prstGeom>
          <a:solidFill>
            <a:srgbClr val="FFFFFF"/>
          </a:solidFill>
          <a:ln>
            <a:solidFill>
              <a:srgbClr val="CDDA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7" name="TextBox 226"/>
          <p:cNvSpPr txBox="1"/>
          <p:nvPr/>
        </p:nvSpPr>
        <p:spPr>
          <a:xfrm>
            <a:off x="2217420" y="1897380"/>
            <a:ext cx="243230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1A2D42"/>
                </a:solidFill>
                <a:latin typeface="Aptos"/>
              </a:defRPr>
            </a:pPr>
            <a:r>
              <a:t>Crop Recommendation Using Machine Learning</a:t>
            </a:r>
          </a:p>
        </p:txBody>
      </p:sp>
      <p:sp>
        <p:nvSpPr>
          <p:cNvPr id="228" name="Rectangle 227"/>
          <p:cNvSpPr/>
          <p:nvPr/>
        </p:nvSpPr>
        <p:spPr>
          <a:xfrm>
            <a:off x="4690872" y="1865376"/>
            <a:ext cx="1874519" cy="475488"/>
          </a:xfrm>
          <a:prstGeom prst="rect">
            <a:avLst/>
          </a:prstGeom>
          <a:solidFill>
            <a:srgbClr val="FFFFFF"/>
          </a:solidFill>
          <a:ln>
            <a:solidFill>
              <a:srgbClr val="CDDA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9" name="TextBox 228"/>
          <p:cNvSpPr txBox="1"/>
          <p:nvPr/>
        </p:nvSpPr>
        <p:spPr>
          <a:xfrm>
            <a:off x="4732020" y="1897380"/>
            <a:ext cx="1792223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10" b="0">
                <a:solidFill>
                  <a:srgbClr val="414141"/>
                </a:solidFill>
                <a:latin typeface="Aptos"/>
              </a:defRPr>
            </a:pPr>
            <a:r>
              <a:t>PART / Decision Table / JRip</a:t>
            </a:r>
          </a:p>
        </p:txBody>
      </p:sp>
      <p:sp>
        <p:nvSpPr>
          <p:cNvPr id="230" name="Rectangle 229"/>
          <p:cNvSpPr/>
          <p:nvPr/>
        </p:nvSpPr>
        <p:spPr>
          <a:xfrm>
            <a:off x="6565391" y="1865376"/>
            <a:ext cx="2148840" cy="475488"/>
          </a:xfrm>
          <a:prstGeom prst="rect">
            <a:avLst/>
          </a:prstGeom>
          <a:solidFill>
            <a:srgbClr val="FFFFFF"/>
          </a:solidFill>
          <a:ln>
            <a:solidFill>
              <a:srgbClr val="CDDA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1" name="TextBox 230"/>
          <p:cNvSpPr txBox="1"/>
          <p:nvPr/>
        </p:nvSpPr>
        <p:spPr>
          <a:xfrm>
            <a:off x="6606539" y="1897380"/>
            <a:ext cx="20665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10" b="0">
                <a:solidFill>
                  <a:srgbClr val="414141"/>
                </a:solidFill>
                <a:latin typeface="Aptos"/>
              </a:defRPr>
            </a:pPr>
            <a:r>
              <a:t>ML can recommend suitable crops</a:t>
            </a:r>
          </a:p>
        </p:txBody>
      </p:sp>
      <p:sp>
        <p:nvSpPr>
          <p:cNvPr id="232" name="Rectangle 231"/>
          <p:cNvSpPr/>
          <p:nvPr/>
        </p:nvSpPr>
        <p:spPr>
          <a:xfrm>
            <a:off x="8714231" y="1865376"/>
            <a:ext cx="2971800" cy="475488"/>
          </a:xfrm>
          <a:prstGeom prst="rect">
            <a:avLst/>
          </a:prstGeom>
          <a:solidFill>
            <a:srgbClr val="FFFFFF"/>
          </a:solidFill>
          <a:ln>
            <a:solidFill>
              <a:srgbClr val="CDDA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3" name="TextBox 232"/>
          <p:cNvSpPr txBox="1"/>
          <p:nvPr/>
        </p:nvSpPr>
        <p:spPr>
          <a:xfrm>
            <a:off x="8755379" y="1897380"/>
            <a:ext cx="288950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10" b="0">
                <a:solidFill>
                  <a:srgbClr val="414141"/>
                </a:solidFill>
                <a:latin typeface="Aptos"/>
              </a:defRPr>
            </a:pPr>
            <a:r>
              <a:t>Limited integration with health, yield, weather and market</a:t>
            </a:r>
            <a:br/>
            <a:r>
              <a:rPr u="sng">
                <a:solidFill>
                  <a:srgbClr val="1E5AA0"/>
                </a:solidFill>
                <a:hlinkClick r:id="rId3"/>
              </a:rPr>
              <a:t>DOI: 10.17148/IJARCCE.2021.101222</a:t>
            </a:r>
          </a:p>
        </p:txBody>
      </p:sp>
      <p:sp>
        <p:nvSpPr>
          <p:cNvPr id="234" name="Rectangle 233"/>
          <p:cNvSpPr/>
          <p:nvPr/>
        </p:nvSpPr>
        <p:spPr>
          <a:xfrm>
            <a:off x="502920" y="2340864"/>
            <a:ext cx="438912" cy="475488"/>
          </a:xfrm>
          <a:prstGeom prst="rect">
            <a:avLst/>
          </a:prstGeom>
          <a:solidFill>
            <a:srgbClr val="F7FAF8"/>
          </a:solidFill>
          <a:ln>
            <a:solidFill>
              <a:srgbClr val="CDDA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5" name="TextBox 234"/>
          <p:cNvSpPr txBox="1"/>
          <p:nvPr/>
        </p:nvSpPr>
        <p:spPr>
          <a:xfrm>
            <a:off x="544068" y="2372868"/>
            <a:ext cx="3566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10" b="0">
                <a:solidFill>
                  <a:srgbClr val="1A2D42"/>
                </a:solidFill>
                <a:latin typeface="Aptos"/>
              </a:defRPr>
            </a:pPr>
            <a:r>
              <a:t>2</a:t>
            </a:r>
            <a:br/>
            <a:r>
              <a:t>2021</a:t>
            </a:r>
          </a:p>
        </p:txBody>
      </p:sp>
      <p:sp>
        <p:nvSpPr>
          <p:cNvPr id="236" name="Rectangle 235"/>
          <p:cNvSpPr/>
          <p:nvPr/>
        </p:nvSpPr>
        <p:spPr>
          <a:xfrm>
            <a:off x="941832" y="2340864"/>
            <a:ext cx="1234440" cy="475488"/>
          </a:xfrm>
          <a:prstGeom prst="rect">
            <a:avLst/>
          </a:prstGeom>
          <a:solidFill>
            <a:srgbClr val="F7FAF8"/>
          </a:solidFill>
          <a:ln>
            <a:solidFill>
              <a:srgbClr val="CDDA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7" name="TextBox 236"/>
          <p:cNvSpPr txBox="1"/>
          <p:nvPr/>
        </p:nvSpPr>
        <p:spPr>
          <a:xfrm>
            <a:off x="982980" y="2372868"/>
            <a:ext cx="11521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10" b="0">
                <a:solidFill>
                  <a:srgbClr val="1A2D42"/>
                </a:solidFill>
                <a:latin typeface="Aptos"/>
              </a:defRPr>
            </a:pPr>
            <a:r>
              <a:t>Suchithra &amp; Pai</a:t>
            </a:r>
          </a:p>
        </p:txBody>
      </p:sp>
      <p:sp>
        <p:nvSpPr>
          <p:cNvPr id="238" name="Rectangle 237"/>
          <p:cNvSpPr/>
          <p:nvPr/>
        </p:nvSpPr>
        <p:spPr>
          <a:xfrm>
            <a:off x="2176272" y="2340864"/>
            <a:ext cx="2514600" cy="475488"/>
          </a:xfrm>
          <a:prstGeom prst="rect">
            <a:avLst/>
          </a:prstGeom>
          <a:solidFill>
            <a:srgbClr val="F7FAF8"/>
          </a:solidFill>
          <a:ln>
            <a:solidFill>
              <a:srgbClr val="CDDA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9" name="TextBox 238"/>
          <p:cNvSpPr txBox="1"/>
          <p:nvPr/>
        </p:nvSpPr>
        <p:spPr>
          <a:xfrm>
            <a:off x="2217420" y="2372868"/>
            <a:ext cx="243230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1A2D42"/>
                </a:solidFill>
                <a:latin typeface="Aptos"/>
              </a:defRPr>
            </a:pPr>
            <a:r>
              <a:t>Label ranking-based recommendation system to rank crops for agroecological units</a:t>
            </a:r>
          </a:p>
        </p:txBody>
      </p:sp>
      <p:sp>
        <p:nvSpPr>
          <p:cNvPr id="240" name="Rectangle 239"/>
          <p:cNvSpPr/>
          <p:nvPr/>
        </p:nvSpPr>
        <p:spPr>
          <a:xfrm>
            <a:off x="4690872" y="2340864"/>
            <a:ext cx="1874519" cy="475488"/>
          </a:xfrm>
          <a:prstGeom prst="rect">
            <a:avLst/>
          </a:prstGeom>
          <a:solidFill>
            <a:srgbClr val="F7FAF8"/>
          </a:solidFill>
          <a:ln>
            <a:solidFill>
              <a:srgbClr val="CDDA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1" name="TextBox 240"/>
          <p:cNvSpPr txBox="1"/>
          <p:nvPr/>
        </p:nvSpPr>
        <p:spPr>
          <a:xfrm>
            <a:off x="4732020" y="2372868"/>
            <a:ext cx="1792223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10" b="0">
                <a:solidFill>
                  <a:srgbClr val="414141"/>
                </a:solidFill>
                <a:latin typeface="Aptos"/>
              </a:defRPr>
            </a:pPr>
            <a:r>
              <a:t>Bagging KNN / Borda aggregation</a:t>
            </a:r>
          </a:p>
        </p:txBody>
      </p:sp>
      <p:sp>
        <p:nvSpPr>
          <p:cNvPr id="242" name="Rectangle 241"/>
          <p:cNvSpPr/>
          <p:nvPr/>
        </p:nvSpPr>
        <p:spPr>
          <a:xfrm>
            <a:off x="6565391" y="2340864"/>
            <a:ext cx="2148840" cy="475488"/>
          </a:xfrm>
          <a:prstGeom prst="rect">
            <a:avLst/>
          </a:prstGeom>
          <a:solidFill>
            <a:srgbClr val="F7FAF8"/>
          </a:solidFill>
          <a:ln>
            <a:solidFill>
              <a:srgbClr val="CDDA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3" name="TextBox 242"/>
          <p:cNvSpPr txBox="1"/>
          <p:nvPr/>
        </p:nvSpPr>
        <p:spPr>
          <a:xfrm>
            <a:off x="6606539" y="2372868"/>
            <a:ext cx="20665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10" b="0">
                <a:solidFill>
                  <a:srgbClr val="414141"/>
                </a:solidFill>
                <a:latin typeface="Aptos"/>
              </a:defRPr>
            </a:pPr>
            <a:r>
              <a:t>Produces ranked crop recommendations</a:t>
            </a:r>
          </a:p>
        </p:txBody>
      </p:sp>
      <p:sp>
        <p:nvSpPr>
          <p:cNvPr id="244" name="Rectangle 243"/>
          <p:cNvSpPr/>
          <p:nvPr/>
        </p:nvSpPr>
        <p:spPr>
          <a:xfrm>
            <a:off x="8714231" y="2340864"/>
            <a:ext cx="2971800" cy="475488"/>
          </a:xfrm>
          <a:prstGeom prst="rect">
            <a:avLst/>
          </a:prstGeom>
          <a:solidFill>
            <a:srgbClr val="F7FAF8"/>
          </a:solidFill>
          <a:ln>
            <a:solidFill>
              <a:srgbClr val="CDDA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5" name="TextBox 244"/>
          <p:cNvSpPr txBox="1"/>
          <p:nvPr/>
        </p:nvSpPr>
        <p:spPr>
          <a:xfrm>
            <a:off x="8755379" y="2372868"/>
            <a:ext cx="288950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10" b="0">
                <a:solidFill>
                  <a:srgbClr val="414141"/>
                </a:solidFill>
                <a:latin typeface="Aptos"/>
              </a:defRPr>
            </a:pPr>
            <a:r>
              <a:t>Focuses on crop ranking; no end-to-end crop-cycle platform</a:t>
            </a:r>
            <a:br/>
            <a:r>
              <a:rPr u="sng">
                <a:solidFill>
                  <a:srgbClr val="1E5AA0"/>
                </a:solidFill>
                <a:hlinkClick r:id="rId4"/>
              </a:rPr>
              <a:t>DOI: 10.1002/cpe.6695</a:t>
            </a:r>
          </a:p>
        </p:txBody>
      </p:sp>
      <p:sp>
        <p:nvSpPr>
          <p:cNvPr id="246" name="Rectangle 245"/>
          <p:cNvSpPr/>
          <p:nvPr/>
        </p:nvSpPr>
        <p:spPr>
          <a:xfrm>
            <a:off x="502920" y="2816352"/>
            <a:ext cx="438912" cy="475488"/>
          </a:xfrm>
          <a:prstGeom prst="rect">
            <a:avLst/>
          </a:prstGeom>
          <a:solidFill>
            <a:srgbClr val="FFFFFF"/>
          </a:solidFill>
          <a:ln>
            <a:solidFill>
              <a:srgbClr val="CDDA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7" name="TextBox 246"/>
          <p:cNvSpPr txBox="1"/>
          <p:nvPr/>
        </p:nvSpPr>
        <p:spPr>
          <a:xfrm>
            <a:off x="544068" y="2848356"/>
            <a:ext cx="3566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10" b="0">
                <a:solidFill>
                  <a:srgbClr val="1A2D42"/>
                </a:solidFill>
                <a:latin typeface="Aptos"/>
              </a:defRPr>
            </a:pPr>
            <a:r>
              <a:t>3</a:t>
            </a:r>
            <a:br/>
            <a:r>
              <a:t>2022</a:t>
            </a:r>
          </a:p>
        </p:txBody>
      </p:sp>
      <p:sp>
        <p:nvSpPr>
          <p:cNvPr id="248" name="Rectangle 247"/>
          <p:cNvSpPr/>
          <p:nvPr/>
        </p:nvSpPr>
        <p:spPr>
          <a:xfrm>
            <a:off x="941832" y="2816352"/>
            <a:ext cx="1234440" cy="475488"/>
          </a:xfrm>
          <a:prstGeom prst="rect">
            <a:avLst/>
          </a:prstGeom>
          <a:solidFill>
            <a:srgbClr val="FFFFFF"/>
          </a:solidFill>
          <a:ln>
            <a:solidFill>
              <a:srgbClr val="CDDA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9" name="TextBox 248"/>
          <p:cNvSpPr txBox="1"/>
          <p:nvPr/>
        </p:nvSpPr>
        <p:spPr>
          <a:xfrm>
            <a:off x="982980" y="2848356"/>
            <a:ext cx="11521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10" b="0">
                <a:solidFill>
                  <a:srgbClr val="1A2D42"/>
                </a:solidFill>
                <a:latin typeface="Aptos"/>
              </a:defRPr>
            </a:pPr>
            <a:r>
              <a:t>Thilakarathne et al.</a:t>
            </a:r>
          </a:p>
        </p:txBody>
      </p:sp>
      <p:sp>
        <p:nvSpPr>
          <p:cNvPr id="250" name="Rectangle 249"/>
          <p:cNvSpPr/>
          <p:nvPr/>
        </p:nvSpPr>
        <p:spPr>
          <a:xfrm>
            <a:off x="2176272" y="2816352"/>
            <a:ext cx="2514600" cy="475488"/>
          </a:xfrm>
          <a:prstGeom prst="rect">
            <a:avLst/>
          </a:prstGeom>
          <a:solidFill>
            <a:srgbClr val="FFFFFF"/>
          </a:solidFill>
          <a:ln>
            <a:solidFill>
              <a:srgbClr val="CDDA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1" name="TextBox 250"/>
          <p:cNvSpPr txBox="1"/>
          <p:nvPr/>
        </p:nvSpPr>
        <p:spPr>
          <a:xfrm>
            <a:off x="2217420" y="2848356"/>
            <a:ext cx="243230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1A2D42"/>
                </a:solidFill>
                <a:latin typeface="Aptos"/>
              </a:defRPr>
            </a:pPr>
            <a:r>
              <a:t>A Cloud Enabled Crop Recommendation Platform for Machine Learning-Driven Precision Farming</a:t>
            </a:r>
          </a:p>
        </p:txBody>
      </p:sp>
      <p:sp>
        <p:nvSpPr>
          <p:cNvPr id="252" name="Rectangle 251"/>
          <p:cNvSpPr/>
          <p:nvPr/>
        </p:nvSpPr>
        <p:spPr>
          <a:xfrm>
            <a:off x="4690872" y="2816352"/>
            <a:ext cx="1874519" cy="475488"/>
          </a:xfrm>
          <a:prstGeom prst="rect">
            <a:avLst/>
          </a:prstGeom>
          <a:solidFill>
            <a:srgbClr val="FFFFFF"/>
          </a:solidFill>
          <a:ln>
            <a:solidFill>
              <a:srgbClr val="CDDA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3" name="TextBox 252"/>
          <p:cNvSpPr txBox="1"/>
          <p:nvPr/>
        </p:nvSpPr>
        <p:spPr>
          <a:xfrm>
            <a:off x="4732020" y="2848356"/>
            <a:ext cx="1792223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10" b="0">
                <a:solidFill>
                  <a:srgbClr val="414141"/>
                </a:solidFill>
                <a:latin typeface="Aptos"/>
              </a:defRPr>
            </a:pPr>
            <a:r>
              <a:t>KNN / DT / RF / XGBoost / SVM</a:t>
            </a:r>
          </a:p>
        </p:txBody>
      </p:sp>
      <p:sp>
        <p:nvSpPr>
          <p:cNvPr id="254" name="Rectangle 253"/>
          <p:cNvSpPr/>
          <p:nvPr/>
        </p:nvSpPr>
        <p:spPr>
          <a:xfrm>
            <a:off x="6565391" y="2816352"/>
            <a:ext cx="2148840" cy="475488"/>
          </a:xfrm>
          <a:prstGeom prst="rect">
            <a:avLst/>
          </a:prstGeom>
          <a:solidFill>
            <a:srgbClr val="FFFFFF"/>
          </a:solidFill>
          <a:ln>
            <a:solidFill>
              <a:srgbClr val="CDDA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5" name="TextBox 254"/>
          <p:cNvSpPr txBox="1"/>
          <p:nvPr/>
        </p:nvSpPr>
        <p:spPr>
          <a:xfrm>
            <a:off x="6606539" y="2848356"/>
            <a:ext cx="20665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10" b="0">
                <a:solidFill>
                  <a:srgbClr val="414141"/>
                </a:solidFill>
                <a:latin typeface="Aptos"/>
              </a:defRPr>
            </a:pPr>
            <a:r>
              <a:t>Best model deployed as a cloud web app</a:t>
            </a:r>
          </a:p>
        </p:txBody>
      </p:sp>
      <p:sp>
        <p:nvSpPr>
          <p:cNvPr id="256" name="Rectangle 255"/>
          <p:cNvSpPr/>
          <p:nvPr/>
        </p:nvSpPr>
        <p:spPr>
          <a:xfrm>
            <a:off x="8714231" y="2816352"/>
            <a:ext cx="2971800" cy="475488"/>
          </a:xfrm>
          <a:prstGeom prst="rect">
            <a:avLst/>
          </a:prstGeom>
          <a:solidFill>
            <a:srgbClr val="FFFFFF"/>
          </a:solidFill>
          <a:ln>
            <a:solidFill>
              <a:srgbClr val="CDDA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7" name="TextBox 256"/>
          <p:cNvSpPr txBox="1"/>
          <p:nvPr/>
        </p:nvSpPr>
        <p:spPr>
          <a:xfrm>
            <a:off x="8755379" y="2848356"/>
            <a:ext cx="288950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10" b="0">
                <a:solidFill>
                  <a:srgbClr val="414141"/>
                </a:solidFill>
                <a:latin typeface="Aptos"/>
              </a:defRPr>
            </a:pPr>
            <a:r>
              <a:t>Primarily recommendation; other farm decisions remain separate</a:t>
            </a:r>
            <a:br/>
            <a:r>
              <a:rPr u="sng">
                <a:solidFill>
                  <a:srgbClr val="1E5AA0"/>
                </a:solidFill>
                <a:hlinkClick r:id="rId5"/>
              </a:rPr>
              <a:t>DOI: 10.3390/s22166299</a:t>
            </a:r>
          </a:p>
        </p:txBody>
      </p:sp>
      <p:sp>
        <p:nvSpPr>
          <p:cNvPr id="258" name="Rectangle 257"/>
          <p:cNvSpPr/>
          <p:nvPr/>
        </p:nvSpPr>
        <p:spPr>
          <a:xfrm>
            <a:off x="502920" y="3291840"/>
            <a:ext cx="438912" cy="475488"/>
          </a:xfrm>
          <a:prstGeom prst="rect">
            <a:avLst/>
          </a:prstGeom>
          <a:solidFill>
            <a:srgbClr val="F7FAF8"/>
          </a:solidFill>
          <a:ln>
            <a:solidFill>
              <a:srgbClr val="CDDA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9" name="TextBox 258"/>
          <p:cNvSpPr txBox="1"/>
          <p:nvPr/>
        </p:nvSpPr>
        <p:spPr>
          <a:xfrm>
            <a:off x="544068" y="3323844"/>
            <a:ext cx="3566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10" b="0">
                <a:solidFill>
                  <a:srgbClr val="1A2D42"/>
                </a:solidFill>
                <a:latin typeface="Aptos"/>
              </a:defRPr>
            </a:pPr>
            <a:r>
              <a:t>4</a:t>
            </a:r>
            <a:br/>
            <a:r>
              <a:t>2023</a:t>
            </a:r>
          </a:p>
        </p:txBody>
      </p:sp>
      <p:sp>
        <p:nvSpPr>
          <p:cNvPr id="260" name="Rectangle 259"/>
          <p:cNvSpPr/>
          <p:nvPr/>
        </p:nvSpPr>
        <p:spPr>
          <a:xfrm>
            <a:off x="941832" y="3291840"/>
            <a:ext cx="1234440" cy="475488"/>
          </a:xfrm>
          <a:prstGeom prst="rect">
            <a:avLst/>
          </a:prstGeom>
          <a:solidFill>
            <a:srgbClr val="F7FAF8"/>
          </a:solidFill>
          <a:ln>
            <a:solidFill>
              <a:srgbClr val="CDDA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1" name="TextBox 260"/>
          <p:cNvSpPr txBox="1"/>
          <p:nvPr/>
        </p:nvSpPr>
        <p:spPr>
          <a:xfrm>
            <a:off x="982980" y="3323844"/>
            <a:ext cx="11521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10" b="0">
                <a:solidFill>
                  <a:srgbClr val="1A2D42"/>
                </a:solidFill>
                <a:latin typeface="Aptos"/>
              </a:defRPr>
            </a:pPr>
            <a:r>
              <a:t>Shingade &amp; Mudhalwadkar</a:t>
            </a:r>
          </a:p>
        </p:txBody>
      </p:sp>
      <p:sp>
        <p:nvSpPr>
          <p:cNvPr id="262" name="Rectangle 261"/>
          <p:cNvSpPr/>
          <p:nvPr/>
        </p:nvSpPr>
        <p:spPr>
          <a:xfrm>
            <a:off x="2176272" y="3291840"/>
            <a:ext cx="2514600" cy="475488"/>
          </a:xfrm>
          <a:prstGeom prst="rect">
            <a:avLst/>
          </a:prstGeom>
          <a:solidFill>
            <a:srgbClr val="F7FAF8"/>
          </a:solidFill>
          <a:ln>
            <a:solidFill>
              <a:srgbClr val="CDDA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3" name="TextBox 262"/>
          <p:cNvSpPr txBox="1"/>
          <p:nvPr/>
        </p:nvSpPr>
        <p:spPr>
          <a:xfrm>
            <a:off x="2217420" y="3323844"/>
            <a:ext cx="243230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1A2D42"/>
                </a:solidFill>
                <a:latin typeface="Aptos"/>
              </a:defRPr>
            </a:pPr>
            <a:r>
              <a:t>Sensor information-based crop recommendation system using machine learning for fertile regions of Maharashtra</a:t>
            </a:r>
          </a:p>
        </p:txBody>
      </p:sp>
      <p:sp>
        <p:nvSpPr>
          <p:cNvPr id="264" name="Rectangle 263"/>
          <p:cNvSpPr/>
          <p:nvPr/>
        </p:nvSpPr>
        <p:spPr>
          <a:xfrm>
            <a:off x="4690872" y="3291840"/>
            <a:ext cx="1874519" cy="475488"/>
          </a:xfrm>
          <a:prstGeom prst="rect">
            <a:avLst/>
          </a:prstGeom>
          <a:solidFill>
            <a:srgbClr val="F7FAF8"/>
          </a:solidFill>
          <a:ln>
            <a:solidFill>
              <a:srgbClr val="CDDA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5" name="TextBox 264"/>
          <p:cNvSpPr txBox="1"/>
          <p:nvPr/>
        </p:nvSpPr>
        <p:spPr>
          <a:xfrm>
            <a:off x="4732020" y="3323844"/>
            <a:ext cx="1792223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10" b="0">
                <a:solidFill>
                  <a:srgbClr val="414141"/>
                </a:solidFill>
                <a:latin typeface="Aptos"/>
              </a:defRPr>
            </a:pPr>
            <a:r>
              <a:t>Decision Tree / RF / SVM</a:t>
            </a:r>
          </a:p>
        </p:txBody>
      </p:sp>
      <p:sp>
        <p:nvSpPr>
          <p:cNvPr id="266" name="Rectangle 265"/>
          <p:cNvSpPr/>
          <p:nvPr/>
        </p:nvSpPr>
        <p:spPr>
          <a:xfrm>
            <a:off x="6565391" y="3291840"/>
            <a:ext cx="2148840" cy="475488"/>
          </a:xfrm>
          <a:prstGeom prst="rect">
            <a:avLst/>
          </a:prstGeom>
          <a:solidFill>
            <a:srgbClr val="F7FAF8"/>
          </a:solidFill>
          <a:ln>
            <a:solidFill>
              <a:srgbClr val="CDDA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7" name="TextBox 266"/>
          <p:cNvSpPr txBox="1"/>
          <p:nvPr/>
        </p:nvSpPr>
        <p:spPr>
          <a:xfrm>
            <a:off x="6606539" y="3323844"/>
            <a:ext cx="20665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10" b="0">
                <a:solidFill>
                  <a:srgbClr val="414141"/>
                </a:solidFill>
                <a:latin typeface="Aptos"/>
              </a:defRPr>
            </a:pPr>
            <a:r>
              <a:t>RF achieved 95% accuracy</a:t>
            </a:r>
          </a:p>
        </p:txBody>
      </p:sp>
      <p:sp>
        <p:nvSpPr>
          <p:cNvPr id="268" name="Rectangle 267"/>
          <p:cNvSpPr/>
          <p:nvPr/>
        </p:nvSpPr>
        <p:spPr>
          <a:xfrm>
            <a:off x="8714231" y="3291840"/>
            <a:ext cx="2971800" cy="475488"/>
          </a:xfrm>
          <a:prstGeom prst="rect">
            <a:avLst/>
          </a:prstGeom>
          <a:solidFill>
            <a:srgbClr val="F7FAF8"/>
          </a:solidFill>
          <a:ln>
            <a:solidFill>
              <a:srgbClr val="CDDA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9" name="TextBox 268"/>
          <p:cNvSpPr txBox="1"/>
          <p:nvPr/>
        </p:nvSpPr>
        <p:spPr>
          <a:xfrm>
            <a:off x="8755379" y="3323844"/>
            <a:ext cx="288950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10" b="0">
                <a:solidFill>
                  <a:srgbClr val="414141"/>
                </a:solidFill>
                <a:latin typeface="Aptos"/>
              </a:defRPr>
            </a:pPr>
            <a:r>
              <a:t>Region-specific; limited multimodal crop-cycle and market integration</a:t>
            </a:r>
            <a:br/>
            <a:r>
              <a:rPr u="sng">
                <a:solidFill>
                  <a:srgbClr val="1E5AA0"/>
                </a:solidFill>
                <a:hlinkClick r:id="rId6"/>
              </a:rPr>
              <a:t>DOI: 10.1002/cpe.7774</a:t>
            </a:r>
          </a:p>
        </p:txBody>
      </p:sp>
      <p:sp>
        <p:nvSpPr>
          <p:cNvPr id="270" name="Rectangle 269"/>
          <p:cNvSpPr/>
          <p:nvPr/>
        </p:nvSpPr>
        <p:spPr>
          <a:xfrm>
            <a:off x="502920" y="3767328"/>
            <a:ext cx="438912" cy="475488"/>
          </a:xfrm>
          <a:prstGeom prst="rect">
            <a:avLst/>
          </a:prstGeom>
          <a:solidFill>
            <a:srgbClr val="FFFFFF"/>
          </a:solidFill>
          <a:ln>
            <a:solidFill>
              <a:srgbClr val="CDDA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1" name="TextBox 270"/>
          <p:cNvSpPr txBox="1"/>
          <p:nvPr/>
        </p:nvSpPr>
        <p:spPr>
          <a:xfrm>
            <a:off x="544068" y="3799332"/>
            <a:ext cx="3566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10" b="0">
                <a:solidFill>
                  <a:srgbClr val="1A2D42"/>
                </a:solidFill>
                <a:latin typeface="Aptos"/>
              </a:defRPr>
            </a:pPr>
            <a:r>
              <a:t>5</a:t>
            </a:r>
            <a:br/>
            <a:r>
              <a:t>2020</a:t>
            </a:r>
          </a:p>
        </p:txBody>
      </p:sp>
      <p:sp>
        <p:nvSpPr>
          <p:cNvPr id="272" name="Rectangle 271"/>
          <p:cNvSpPr/>
          <p:nvPr/>
        </p:nvSpPr>
        <p:spPr>
          <a:xfrm>
            <a:off x="941832" y="3767328"/>
            <a:ext cx="1234440" cy="475488"/>
          </a:xfrm>
          <a:prstGeom prst="rect">
            <a:avLst/>
          </a:prstGeom>
          <a:solidFill>
            <a:srgbClr val="FFFFFF"/>
          </a:solidFill>
          <a:ln>
            <a:solidFill>
              <a:srgbClr val="CDDA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3" name="TextBox 272"/>
          <p:cNvSpPr txBox="1"/>
          <p:nvPr/>
        </p:nvSpPr>
        <p:spPr>
          <a:xfrm>
            <a:off x="982980" y="3799332"/>
            <a:ext cx="11521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10" b="0">
                <a:solidFill>
                  <a:srgbClr val="1A2D42"/>
                </a:solidFill>
                <a:latin typeface="Aptos"/>
              </a:defRPr>
            </a:pPr>
            <a:r>
              <a:t>Prasad et al.</a:t>
            </a:r>
          </a:p>
        </p:txBody>
      </p:sp>
      <p:sp>
        <p:nvSpPr>
          <p:cNvPr id="274" name="Rectangle 273"/>
          <p:cNvSpPr/>
          <p:nvPr/>
        </p:nvSpPr>
        <p:spPr>
          <a:xfrm>
            <a:off x="2176272" y="3767328"/>
            <a:ext cx="2514600" cy="475488"/>
          </a:xfrm>
          <a:prstGeom prst="rect">
            <a:avLst/>
          </a:prstGeom>
          <a:solidFill>
            <a:srgbClr val="FFFFFF"/>
          </a:solidFill>
          <a:ln>
            <a:solidFill>
              <a:srgbClr val="CDDA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5" name="TextBox 274"/>
          <p:cNvSpPr txBox="1"/>
          <p:nvPr/>
        </p:nvSpPr>
        <p:spPr>
          <a:xfrm>
            <a:off x="2217420" y="3799332"/>
            <a:ext cx="243230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1A2D42"/>
                </a:solidFill>
                <a:latin typeface="Aptos"/>
              </a:defRPr>
            </a:pPr>
            <a:r>
              <a:t>Plant Disease Detection Using CNN</a:t>
            </a:r>
          </a:p>
        </p:txBody>
      </p:sp>
      <p:sp>
        <p:nvSpPr>
          <p:cNvPr id="276" name="Rectangle 275"/>
          <p:cNvSpPr/>
          <p:nvPr/>
        </p:nvSpPr>
        <p:spPr>
          <a:xfrm>
            <a:off x="4690872" y="3767328"/>
            <a:ext cx="1874519" cy="475488"/>
          </a:xfrm>
          <a:prstGeom prst="rect">
            <a:avLst/>
          </a:prstGeom>
          <a:solidFill>
            <a:srgbClr val="FFFFFF"/>
          </a:solidFill>
          <a:ln>
            <a:solidFill>
              <a:srgbClr val="CDDA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7" name="TextBox 276"/>
          <p:cNvSpPr txBox="1"/>
          <p:nvPr/>
        </p:nvSpPr>
        <p:spPr>
          <a:xfrm>
            <a:off x="4732020" y="3799332"/>
            <a:ext cx="1792223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10" b="0">
                <a:solidFill>
                  <a:srgbClr val="414141"/>
                </a:solidFill>
                <a:latin typeface="Aptos"/>
              </a:defRPr>
            </a:pPr>
            <a:r>
              <a:t>CNN + image processing</a:t>
            </a:r>
          </a:p>
        </p:txBody>
      </p:sp>
      <p:sp>
        <p:nvSpPr>
          <p:cNvPr id="278" name="Rectangle 277"/>
          <p:cNvSpPr/>
          <p:nvPr/>
        </p:nvSpPr>
        <p:spPr>
          <a:xfrm>
            <a:off x="6565391" y="3767328"/>
            <a:ext cx="2148840" cy="475488"/>
          </a:xfrm>
          <a:prstGeom prst="rect">
            <a:avLst/>
          </a:prstGeom>
          <a:solidFill>
            <a:srgbClr val="FFFFFF"/>
          </a:solidFill>
          <a:ln>
            <a:solidFill>
              <a:srgbClr val="CDDA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9" name="TextBox 278"/>
          <p:cNvSpPr txBox="1"/>
          <p:nvPr/>
        </p:nvSpPr>
        <p:spPr>
          <a:xfrm>
            <a:off x="6606539" y="3799332"/>
            <a:ext cx="20665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10" b="0">
                <a:solidFill>
                  <a:srgbClr val="414141"/>
                </a:solidFill>
                <a:latin typeface="Aptos"/>
              </a:defRPr>
            </a:pPr>
            <a:r>
              <a:t>CNN-based disease detection demonstrated</a:t>
            </a:r>
          </a:p>
        </p:txBody>
      </p:sp>
      <p:sp>
        <p:nvSpPr>
          <p:cNvPr id="280" name="Rectangle 279"/>
          <p:cNvSpPr/>
          <p:nvPr/>
        </p:nvSpPr>
        <p:spPr>
          <a:xfrm>
            <a:off x="8714231" y="3767328"/>
            <a:ext cx="2971800" cy="475488"/>
          </a:xfrm>
          <a:prstGeom prst="rect">
            <a:avLst/>
          </a:prstGeom>
          <a:solidFill>
            <a:srgbClr val="FFFFFF"/>
          </a:solidFill>
          <a:ln>
            <a:solidFill>
              <a:srgbClr val="CDDA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1" name="TextBox 280"/>
          <p:cNvSpPr txBox="1"/>
          <p:nvPr/>
        </p:nvSpPr>
        <p:spPr>
          <a:xfrm>
            <a:off x="8755379" y="3799332"/>
            <a:ext cx="288950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10" b="0">
                <a:solidFill>
                  <a:srgbClr val="414141"/>
                </a:solidFill>
                <a:latin typeface="Aptos"/>
              </a:defRPr>
            </a:pPr>
            <a:r>
              <a:t>Small test set and image-focused scope; limited field variability</a:t>
            </a:r>
            <a:br/>
            <a:r>
              <a:rPr u="sng">
                <a:solidFill>
                  <a:srgbClr val="1E5AA0"/>
                </a:solidFill>
                <a:hlinkClick r:id="rId7"/>
              </a:rPr>
              <a:t>DOI: 10.1109/ASPCON49795.2020.9276722</a:t>
            </a:r>
          </a:p>
        </p:txBody>
      </p:sp>
      <p:sp>
        <p:nvSpPr>
          <p:cNvPr id="282" name="Rectangle 281"/>
          <p:cNvSpPr/>
          <p:nvPr/>
        </p:nvSpPr>
        <p:spPr>
          <a:xfrm>
            <a:off x="502920" y="4242816"/>
            <a:ext cx="438912" cy="475488"/>
          </a:xfrm>
          <a:prstGeom prst="rect">
            <a:avLst/>
          </a:prstGeom>
          <a:solidFill>
            <a:srgbClr val="F7FAF8"/>
          </a:solidFill>
          <a:ln>
            <a:solidFill>
              <a:srgbClr val="CDDA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3" name="TextBox 282"/>
          <p:cNvSpPr txBox="1"/>
          <p:nvPr/>
        </p:nvSpPr>
        <p:spPr>
          <a:xfrm>
            <a:off x="544068" y="4274820"/>
            <a:ext cx="3566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10" b="0">
                <a:solidFill>
                  <a:srgbClr val="1A2D42"/>
                </a:solidFill>
                <a:latin typeface="Aptos"/>
              </a:defRPr>
            </a:pPr>
            <a:r>
              <a:t>6</a:t>
            </a:r>
            <a:br/>
            <a:r>
              <a:t>2022</a:t>
            </a:r>
          </a:p>
        </p:txBody>
      </p:sp>
      <p:sp>
        <p:nvSpPr>
          <p:cNvPr id="284" name="Rectangle 283"/>
          <p:cNvSpPr/>
          <p:nvPr/>
        </p:nvSpPr>
        <p:spPr>
          <a:xfrm>
            <a:off x="941832" y="4242816"/>
            <a:ext cx="1234440" cy="475488"/>
          </a:xfrm>
          <a:prstGeom prst="rect">
            <a:avLst/>
          </a:prstGeom>
          <a:solidFill>
            <a:srgbClr val="F7FAF8"/>
          </a:solidFill>
          <a:ln>
            <a:solidFill>
              <a:srgbClr val="CDDA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5" name="TextBox 284"/>
          <p:cNvSpPr txBox="1"/>
          <p:nvPr/>
        </p:nvSpPr>
        <p:spPr>
          <a:xfrm>
            <a:off x="982980" y="4274820"/>
            <a:ext cx="11521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10" b="0">
                <a:solidFill>
                  <a:srgbClr val="1A2D42"/>
                </a:solidFill>
                <a:latin typeface="Aptos"/>
              </a:defRPr>
            </a:pPr>
            <a:r>
              <a:t>Chen et al.</a:t>
            </a:r>
          </a:p>
        </p:txBody>
      </p:sp>
      <p:sp>
        <p:nvSpPr>
          <p:cNvPr id="286" name="Rectangle 285"/>
          <p:cNvSpPr/>
          <p:nvPr/>
        </p:nvSpPr>
        <p:spPr>
          <a:xfrm>
            <a:off x="2176272" y="4242816"/>
            <a:ext cx="2514600" cy="475488"/>
          </a:xfrm>
          <a:prstGeom prst="rect">
            <a:avLst/>
          </a:prstGeom>
          <a:solidFill>
            <a:srgbClr val="F7FAF8"/>
          </a:solidFill>
          <a:ln>
            <a:solidFill>
              <a:srgbClr val="CDDA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7" name="TextBox 286"/>
          <p:cNvSpPr txBox="1"/>
          <p:nvPr/>
        </p:nvSpPr>
        <p:spPr>
          <a:xfrm>
            <a:off x="2217420" y="4274820"/>
            <a:ext cx="243230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1A2D42"/>
                </a:solidFill>
                <a:latin typeface="Aptos"/>
              </a:defRPr>
            </a:pPr>
            <a:r>
              <a:t>Identification of plant leaf diseases by deep learning based on channel attention and channel pruning</a:t>
            </a:r>
          </a:p>
        </p:txBody>
      </p:sp>
      <p:sp>
        <p:nvSpPr>
          <p:cNvPr id="288" name="Rectangle 287"/>
          <p:cNvSpPr/>
          <p:nvPr/>
        </p:nvSpPr>
        <p:spPr>
          <a:xfrm>
            <a:off x="4690872" y="4242816"/>
            <a:ext cx="1874519" cy="475488"/>
          </a:xfrm>
          <a:prstGeom prst="rect">
            <a:avLst/>
          </a:prstGeom>
          <a:solidFill>
            <a:srgbClr val="F7FAF8"/>
          </a:solidFill>
          <a:ln>
            <a:solidFill>
              <a:srgbClr val="CDDA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9" name="TextBox 288"/>
          <p:cNvSpPr txBox="1"/>
          <p:nvPr/>
        </p:nvSpPr>
        <p:spPr>
          <a:xfrm>
            <a:off x="4732020" y="4274820"/>
            <a:ext cx="1792223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10" b="0">
                <a:solidFill>
                  <a:srgbClr val="414141"/>
                </a:solidFill>
                <a:latin typeface="Aptos"/>
              </a:defRPr>
            </a:pPr>
            <a:r>
              <a:t>ResNet-18 + attention/pruning</a:t>
            </a:r>
          </a:p>
        </p:txBody>
      </p:sp>
      <p:sp>
        <p:nvSpPr>
          <p:cNvPr id="290" name="Rectangle 289"/>
          <p:cNvSpPr/>
          <p:nvPr/>
        </p:nvSpPr>
        <p:spPr>
          <a:xfrm>
            <a:off x="6565391" y="4242816"/>
            <a:ext cx="2148840" cy="475488"/>
          </a:xfrm>
          <a:prstGeom prst="rect">
            <a:avLst/>
          </a:prstGeom>
          <a:solidFill>
            <a:srgbClr val="F7FAF8"/>
          </a:solidFill>
          <a:ln>
            <a:solidFill>
              <a:srgbClr val="CDDA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1" name="TextBox 290"/>
          <p:cNvSpPr txBox="1"/>
          <p:nvPr/>
        </p:nvSpPr>
        <p:spPr>
          <a:xfrm>
            <a:off x="6606539" y="4274820"/>
            <a:ext cx="20665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10" b="0">
                <a:solidFill>
                  <a:srgbClr val="414141"/>
                </a:solidFill>
                <a:latin typeface="Aptos"/>
              </a:defRPr>
            </a:pPr>
            <a:r>
              <a:t>High accuracy with reduced model complexity</a:t>
            </a:r>
          </a:p>
        </p:txBody>
      </p:sp>
      <p:sp>
        <p:nvSpPr>
          <p:cNvPr id="292" name="Rectangle 291"/>
          <p:cNvSpPr/>
          <p:nvPr/>
        </p:nvSpPr>
        <p:spPr>
          <a:xfrm>
            <a:off x="8714231" y="4242816"/>
            <a:ext cx="2971800" cy="475488"/>
          </a:xfrm>
          <a:prstGeom prst="rect">
            <a:avLst/>
          </a:prstGeom>
          <a:solidFill>
            <a:srgbClr val="F7FAF8"/>
          </a:solidFill>
          <a:ln>
            <a:solidFill>
              <a:srgbClr val="CDDA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3" name="TextBox 292"/>
          <p:cNvSpPr txBox="1"/>
          <p:nvPr/>
        </p:nvSpPr>
        <p:spPr>
          <a:xfrm>
            <a:off x="8755379" y="4274820"/>
            <a:ext cx="288950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10" b="0">
                <a:solidFill>
                  <a:srgbClr val="414141"/>
                </a:solidFill>
                <a:latin typeface="Aptos"/>
              </a:defRPr>
            </a:pPr>
            <a:r>
              <a:t>Disease-focused; limited broader farm decision support</a:t>
            </a:r>
            <a:br/>
            <a:r>
              <a:rPr u="sng">
                <a:solidFill>
                  <a:srgbClr val="1E5AA0"/>
                </a:solidFill>
                <a:hlinkClick r:id="rId8"/>
              </a:rPr>
              <a:t>DOI: 10.3389/fpls.2022.1023515</a:t>
            </a:r>
          </a:p>
        </p:txBody>
      </p:sp>
      <p:sp>
        <p:nvSpPr>
          <p:cNvPr id="294" name="Rectangle 293"/>
          <p:cNvSpPr/>
          <p:nvPr/>
        </p:nvSpPr>
        <p:spPr>
          <a:xfrm>
            <a:off x="502920" y="4718304"/>
            <a:ext cx="438912" cy="475488"/>
          </a:xfrm>
          <a:prstGeom prst="rect">
            <a:avLst/>
          </a:prstGeom>
          <a:solidFill>
            <a:srgbClr val="FFFFFF"/>
          </a:solidFill>
          <a:ln>
            <a:solidFill>
              <a:srgbClr val="CDDA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5" name="TextBox 294"/>
          <p:cNvSpPr txBox="1"/>
          <p:nvPr/>
        </p:nvSpPr>
        <p:spPr>
          <a:xfrm>
            <a:off x="544068" y="4750308"/>
            <a:ext cx="3566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10" b="0">
                <a:solidFill>
                  <a:srgbClr val="1A2D42"/>
                </a:solidFill>
                <a:latin typeface="Aptos"/>
              </a:defRPr>
            </a:pPr>
            <a:r>
              <a:t>7</a:t>
            </a:r>
            <a:br/>
            <a:r>
              <a:t>2022</a:t>
            </a:r>
          </a:p>
        </p:txBody>
      </p:sp>
      <p:sp>
        <p:nvSpPr>
          <p:cNvPr id="296" name="Rectangle 295"/>
          <p:cNvSpPr/>
          <p:nvPr/>
        </p:nvSpPr>
        <p:spPr>
          <a:xfrm>
            <a:off x="941832" y="4718304"/>
            <a:ext cx="1234440" cy="475488"/>
          </a:xfrm>
          <a:prstGeom prst="rect">
            <a:avLst/>
          </a:prstGeom>
          <a:solidFill>
            <a:srgbClr val="FFFFFF"/>
          </a:solidFill>
          <a:ln>
            <a:solidFill>
              <a:srgbClr val="CDDA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7" name="TextBox 296"/>
          <p:cNvSpPr txBox="1"/>
          <p:nvPr/>
        </p:nvSpPr>
        <p:spPr>
          <a:xfrm>
            <a:off x="982980" y="4750308"/>
            <a:ext cx="11521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10" b="0">
                <a:solidFill>
                  <a:srgbClr val="1A2D42"/>
                </a:solidFill>
                <a:latin typeface="Aptos"/>
              </a:defRPr>
            </a:pPr>
            <a:r>
              <a:t>Albattah et al.</a:t>
            </a:r>
          </a:p>
        </p:txBody>
      </p:sp>
      <p:sp>
        <p:nvSpPr>
          <p:cNvPr id="298" name="Rectangle 297"/>
          <p:cNvSpPr/>
          <p:nvPr/>
        </p:nvSpPr>
        <p:spPr>
          <a:xfrm>
            <a:off x="2176272" y="4718304"/>
            <a:ext cx="2514600" cy="475488"/>
          </a:xfrm>
          <a:prstGeom prst="rect">
            <a:avLst/>
          </a:prstGeom>
          <a:solidFill>
            <a:srgbClr val="FFFFFF"/>
          </a:solidFill>
          <a:ln>
            <a:solidFill>
              <a:srgbClr val="CDDA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9" name="TextBox 298"/>
          <p:cNvSpPr txBox="1"/>
          <p:nvPr/>
        </p:nvSpPr>
        <p:spPr>
          <a:xfrm>
            <a:off x="2217420" y="4750308"/>
            <a:ext cx="243230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1A2D42"/>
                </a:solidFill>
                <a:latin typeface="Aptos"/>
              </a:defRPr>
            </a:pPr>
            <a:r>
              <a:t>AI-Based Drone System for Multiclass Plant Disease Detection Using an Improved Efficient CNN</a:t>
            </a:r>
          </a:p>
        </p:txBody>
      </p:sp>
      <p:sp>
        <p:nvSpPr>
          <p:cNvPr id="300" name="Rectangle 299"/>
          <p:cNvSpPr/>
          <p:nvPr/>
        </p:nvSpPr>
        <p:spPr>
          <a:xfrm>
            <a:off x="4690872" y="4718304"/>
            <a:ext cx="1874519" cy="475488"/>
          </a:xfrm>
          <a:prstGeom prst="rect">
            <a:avLst/>
          </a:prstGeom>
          <a:solidFill>
            <a:srgbClr val="FFFFFF"/>
          </a:solidFill>
          <a:ln>
            <a:solidFill>
              <a:srgbClr val="CDDA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1" name="TextBox 300"/>
          <p:cNvSpPr txBox="1"/>
          <p:nvPr/>
        </p:nvSpPr>
        <p:spPr>
          <a:xfrm>
            <a:off x="4732020" y="4750308"/>
            <a:ext cx="1792223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10" b="0">
                <a:solidFill>
                  <a:srgbClr val="414141"/>
                </a:solidFill>
                <a:latin typeface="Aptos"/>
              </a:defRPr>
            </a:pPr>
            <a:r>
              <a:t>EfficientNetV2-B4</a:t>
            </a:r>
          </a:p>
        </p:txBody>
      </p:sp>
      <p:sp>
        <p:nvSpPr>
          <p:cNvPr id="302" name="Rectangle 301"/>
          <p:cNvSpPr/>
          <p:nvPr/>
        </p:nvSpPr>
        <p:spPr>
          <a:xfrm>
            <a:off x="6565391" y="4718304"/>
            <a:ext cx="2148840" cy="475488"/>
          </a:xfrm>
          <a:prstGeom prst="rect">
            <a:avLst/>
          </a:prstGeom>
          <a:solidFill>
            <a:srgbClr val="FFFFFF"/>
          </a:solidFill>
          <a:ln>
            <a:solidFill>
              <a:srgbClr val="CDDA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3" name="TextBox 302"/>
          <p:cNvSpPr txBox="1"/>
          <p:nvPr/>
        </p:nvSpPr>
        <p:spPr>
          <a:xfrm>
            <a:off x="6606539" y="4750308"/>
            <a:ext cx="20665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10" b="0">
                <a:solidFill>
                  <a:srgbClr val="414141"/>
                </a:solidFill>
                <a:latin typeface="Aptos"/>
              </a:defRPr>
            </a:pPr>
            <a:r>
              <a:t>Strong multiclass disease detection</a:t>
            </a:r>
          </a:p>
        </p:txBody>
      </p:sp>
      <p:sp>
        <p:nvSpPr>
          <p:cNvPr id="304" name="Rectangle 303"/>
          <p:cNvSpPr/>
          <p:nvPr/>
        </p:nvSpPr>
        <p:spPr>
          <a:xfrm>
            <a:off x="8714231" y="4718304"/>
            <a:ext cx="2971800" cy="475488"/>
          </a:xfrm>
          <a:prstGeom prst="rect">
            <a:avLst/>
          </a:prstGeom>
          <a:solidFill>
            <a:srgbClr val="FFFFFF"/>
          </a:solidFill>
          <a:ln>
            <a:solidFill>
              <a:srgbClr val="CDDA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5" name="TextBox 304"/>
          <p:cNvSpPr txBox="1"/>
          <p:nvPr/>
        </p:nvSpPr>
        <p:spPr>
          <a:xfrm>
            <a:off x="8755379" y="4750308"/>
            <a:ext cx="288950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10" b="0">
                <a:solidFill>
                  <a:srgbClr val="414141"/>
                </a:solidFill>
                <a:latin typeface="Aptos"/>
              </a:defRPr>
            </a:pPr>
            <a:r>
              <a:t>Disease-focused; lacks crop/yield/market integration</a:t>
            </a:r>
            <a:br/>
            <a:r>
              <a:rPr u="sng">
                <a:solidFill>
                  <a:srgbClr val="1E5AA0"/>
                </a:solidFill>
                <a:hlinkClick r:id="rId9"/>
              </a:rPr>
              <a:t>DOI: 10.3389/fpls.2022.808380</a:t>
            </a:r>
          </a:p>
        </p:txBody>
      </p:sp>
      <p:sp>
        <p:nvSpPr>
          <p:cNvPr id="306" name="Rectangle 305"/>
          <p:cNvSpPr/>
          <p:nvPr/>
        </p:nvSpPr>
        <p:spPr>
          <a:xfrm>
            <a:off x="502920" y="5193792"/>
            <a:ext cx="438912" cy="475488"/>
          </a:xfrm>
          <a:prstGeom prst="rect">
            <a:avLst/>
          </a:prstGeom>
          <a:solidFill>
            <a:srgbClr val="F7FAF8"/>
          </a:solidFill>
          <a:ln>
            <a:solidFill>
              <a:srgbClr val="CDDA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7" name="TextBox 306"/>
          <p:cNvSpPr txBox="1"/>
          <p:nvPr/>
        </p:nvSpPr>
        <p:spPr>
          <a:xfrm>
            <a:off x="544068" y="5225796"/>
            <a:ext cx="3566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10" b="0">
                <a:solidFill>
                  <a:srgbClr val="1A2D42"/>
                </a:solidFill>
                <a:latin typeface="Aptos"/>
              </a:defRPr>
            </a:pPr>
            <a:r>
              <a:t>8</a:t>
            </a:r>
            <a:br/>
            <a:r>
              <a:t>2022</a:t>
            </a:r>
          </a:p>
        </p:txBody>
      </p:sp>
      <p:sp>
        <p:nvSpPr>
          <p:cNvPr id="308" name="Rectangle 307"/>
          <p:cNvSpPr/>
          <p:nvPr/>
        </p:nvSpPr>
        <p:spPr>
          <a:xfrm>
            <a:off x="941832" y="5193792"/>
            <a:ext cx="1234440" cy="475488"/>
          </a:xfrm>
          <a:prstGeom prst="rect">
            <a:avLst/>
          </a:prstGeom>
          <a:solidFill>
            <a:srgbClr val="F7FAF8"/>
          </a:solidFill>
          <a:ln>
            <a:solidFill>
              <a:srgbClr val="CDDA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9" name="TextBox 308"/>
          <p:cNvSpPr txBox="1"/>
          <p:nvPr/>
        </p:nvSpPr>
        <p:spPr>
          <a:xfrm>
            <a:off x="982980" y="5225796"/>
            <a:ext cx="11521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10" b="0">
                <a:solidFill>
                  <a:srgbClr val="1A2D42"/>
                </a:solidFill>
                <a:latin typeface="Aptos"/>
              </a:defRPr>
            </a:pPr>
            <a:r>
              <a:t>Shoaib et al.</a:t>
            </a:r>
          </a:p>
        </p:txBody>
      </p:sp>
      <p:sp>
        <p:nvSpPr>
          <p:cNvPr id="310" name="Rectangle 309"/>
          <p:cNvSpPr/>
          <p:nvPr/>
        </p:nvSpPr>
        <p:spPr>
          <a:xfrm>
            <a:off x="2176272" y="5193792"/>
            <a:ext cx="2514600" cy="475488"/>
          </a:xfrm>
          <a:prstGeom prst="rect">
            <a:avLst/>
          </a:prstGeom>
          <a:solidFill>
            <a:srgbClr val="F7FAF8"/>
          </a:solidFill>
          <a:ln>
            <a:solidFill>
              <a:srgbClr val="CDDA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1" name="TextBox 310"/>
          <p:cNvSpPr txBox="1"/>
          <p:nvPr/>
        </p:nvSpPr>
        <p:spPr>
          <a:xfrm>
            <a:off x="2217420" y="5225796"/>
            <a:ext cx="243230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1A2D42"/>
                </a:solidFill>
                <a:latin typeface="Aptos"/>
              </a:defRPr>
            </a:pPr>
            <a:r>
              <a:t>Deep learning-based segmentation and classification of leaf images for detection of tomato plant disease</a:t>
            </a:r>
          </a:p>
        </p:txBody>
      </p:sp>
      <p:sp>
        <p:nvSpPr>
          <p:cNvPr id="312" name="Rectangle 311"/>
          <p:cNvSpPr/>
          <p:nvPr/>
        </p:nvSpPr>
        <p:spPr>
          <a:xfrm>
            <a:off x="4690872" y="5193792"/>
            <a:ext cx="1874519" cy="475488"/>
          </a:xfrm>
          <a:prstGeom prst="rect">
            <a:avLst/>
          </a:prstGeom>
          <a:solidFill>
            <a:srgbClr val="F7FAF8"/>
          </a:solidFill>
          <a:ln>
            <a:solidFill>
              <a:srgbClr val="CDDA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3" name="TextBox 312"/>
          <p:cNvSpPr txBox="1"/>
          <p:nvPr/>
        </p:nvSpPr>
        <p:spPr>
          <a:xfrm>
            <a:off x="4732020" y="5225796"/>
            <a:ext cx="1792223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10" b="0">
                <a:solidFill>
                  <a:srgbClr val="414141"/>
                </a:solidFill>
                <a:latin typeface="Aptos"/>
              </a:defRPr>
            </a:pPr>
            <a:r>
              <a:t>U-Net / CNN / Inception</a:t>
            </a:r>
          </a:p>
        </p:txBody>
      </p:sp>
      <p:sp>
        <p:nvSpPr>
          <p:cNvPr id="314" name="Rectangle 313"/>
          <p:cNvSpPr/>
          <p:nvPr/>
        </p:nvSpPr>
        <p:spPr>
          <a:xfrm>
            <a:off x="6565391" y="5193792"/>
            <a:ext cx="2148840" cy="475488"/>
          </a:xfrm>
          <a:prstGeom prst="rect">
            <a:avLst/>
          </a:prstGeom>
          <a:solidFill>
            <a:srgbClr val="F7FAF8"/>
          </a:solidFill>
          <a:ln>
            <a:solidFill>
              <a:srgbClr val="CDDA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5" name="TextBox 314"/>
          <p:cNvSpPr txBox="1"/>
          <p:nvPr/>
        </p:nvSpPr>
        <p:spPr>
          <a:xfrm>
            <a:off x="6606539" y="5225796"/>
            <a:ext cx="20665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10" b="0">
                <a:solidFill>
                  <a:srgbClr val="414141"/>
                </a:solidFill>
                <a:latin typeface="Aptos"/>
              </a:defRPr>
            </a:pPr>
            <a:r>
              <a:t>Disease regions can be segmented and classified</a:t>
            </a:r>
          </a:p>
        </p:txBody>
      </p:sp>
      <p:sp>
        <p:nvSpPr>
          <p:cNvPr id="316" name="Rectangle 315"/>
          <p:cNvSpPr/>
          <p:nvPr/>
        </p:nvSpPr>
        <p:spPr>
          <a:xfrm>
            <a:off x="8714231" y="5193792"/>
            <a:ext cx="2971800" cy="475488"/>
          </a:xfrm>
          <a:prstGeom prst="rect">
            <a:avLst/>
          </a:prstGeom>
          <a:solidFill>
            <a:srgbClr val="F7FAF8"/>
          </a:solidFill>
          <a:ln>
            <a:solidFill>
              <a:srgbClr val="CDDA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7" name="TextBox 316"/>
          <p:cNvSpPr txBox="1"/>
          <p:nvPr/>
        </p:nvSpPr>
        <p:spPr>
          <a:xfrm>
            <a:off x="8755379" y="5225796"/>
            <a:ext cx="288950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10" b="0">
                <a:solidFill>
                  <a:srgbClr val="414141"/>
                </a:solidFill>
                <a:latin typeface="Aptos"/>
              </a:defRPr>
            </a:pPr>
            <a:r>
              <a:t>Crop-specific study; broader farm management not addressed</a:t>
            </a:r>
            <a:br/>
            <a:r>
              <a:rPr u="sng">
                <a:solidFill>
                  <a:srgbClr val="1E5AA0"/>
                </a:solidFill>
                <a:hlinkClick r:id="rId10"/>
              </a:rPr>
              <a:t>DOI: 10.3389/fpls.2022.1031748</a:t>
            </a:r>
          </a:p>
        </p:txBody>
      </p:sp>
      <p:sp>
        <p:nvSpPr>
          <p:cNvPr id="318" name="Rectangle 317"/>
          <p:cNvSpPr/>
          <p:nvPr/>
        </p:nvSpPr>
        <p:spPr>
          <a:xfrm>
            <a:off x="502920" y="5669280"/>
            <a:ext cx="438912" cy="475488"/>
          </a:xfrm>
          <a:prstGeom prst="rect">
            <a:avLst/>
          </a:prstGeom>
          <a:solidFill>
            <a:srgbClr val="FFFFFF"/>
          </a:solidFill>
          <a:ln>
            <a:solidFill>
              <a:srgbClr val="CDDA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9" name="TextBox 318"/>
          <p:cNvSpPr txBox="1"/>
          <p:nvPr/>
        </p:nvSpPr>
        <p:spPr>
          <a:xfrm>
            <a:off x="544068" y="5701284"/>
            <a:ext cx="3566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10" b="0">
                <a:solidFill>
                  <a:srgbClr val="1A2D42"/>
                </a:solidFill>
                <a:latin typeface="Aptos"/>
              </a:defRPr>
            </a:pPr>
            <a:r>
              <a:t>9</a:t>
            </a:r>
            <a:br/>
            <a:r>
              <a:t>2022</a:t>
            </a:r>
          </a:p>
        </p:txBody>
      </p:sp>
      <p:sp>
        <p:nvSpPr>
          <p:cNvPr id="320" name="Rectangle 319"/>
          <p:cNvSpPr/>
          <p:nvPr/>
        </p:nvSpPr>
        <p:spPr>
          <a:xfrm>
            <a:off x="941832" y="5669280"/>
            <a:ext cx="1234440" cy="475488"/>
          </a:xfrm>
          <a:prstGeom prst="rect">
            <a:avLst/>
          </a:prstGeom>
          <a:solidFill>
            <a:srgbClr val="FFFFFF"/>
          </a:solidFill>
          <a:ln>
            <a:solidFill>
              <a:srgbClr val="CDDA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1" name="TextBox 320"/>
          <p:cNvSpPr txBox="1"/>
          <p:nvPr/>
        </p:nvSpPr>
        <p:spPr>
          <a:xfrm>
            <a:off x="982980" y="5701284"/>
            <a:ext cx="11521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10" b="0">
                <a:solidFill>
                  <a:srgbClr val="1A2D42"/>
                </a:solidFill>
                <a:latin typeface="Aptos"/>
              </a:defRPr>
            </a:pPr>
            <a:r>
              <a:t>Lee et al.</a:t>
            </a:r>
          </a:p>
        </p:txBody>
      </p:sp>
      <p:sp>
        <p:nvSpPr>
          <p:cNvPr id="322" name="Rectangle 321"/>
          <p:cNvSpPr/>
          <p:nvPr/>
        </p:nvSpPr>
        <p:spPr>
          <a:xfrm>
            <a:off x="2176272" y="5669280"/>
            <a:ext cx="2514600" cy="475488"/>
          </a:xfrm>
          <a:prstGeom prst="rect">
            <a:avLst/>
          </a:prstGeom>
          <a:solidFill>
            <a:srgbClr val="FFFFFF"/>
          </a:solidFill>
          <a:ln>
            <a:solidFill>
              <a:srgbClr val="CDDA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3" name="TextBox 322"/>
          <p:cNvSpPr txBox="1"/>
          <p:nvPr/>
        </p:nvSpPr>
        <p:spPr>
          <a:xfrm>
            <a:off x="2217420" y="5701284"/>
            <a:ext cx="243230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1A2D42"/>
                </a:solidFill>
                <a:latin typeface="Aptos"/>
              </a:defRPr>
            </a:pPr>
            <a:r>
              <a:t>Detecting strawberry diseases and pest infections in the very early stage with an ensemble deep-learning model</a:t>
            </a:r>
          </a:p>
        </p:txBody>
      </p:sp>
      <p:sp>
        <p:nvSpPr>
          <p:cNvPr id="324" name="Rectangle 323"/>
          <p:cNvSpPr/>
          <p:nvPr/>
        </p:nvSpPr>
        <p:spPr>
          <a:xfrm>
            <a:off x="4690872" y="5669280"/>
            <a:ext cx="1874519" cy="475488"/>
          </a:xfrm>
          <a:prstGeom prst="rect">
            <a:avLst/>
          </a:prstGeom>
          <a:solidFill>
            <a:srgbClr val="FFFFFF"/>
          </a:solidFill>
          <a:ln>
            <a:solidFill>
              <a:srgbClr val="CDDA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5" name="TextBox 324"/>
          <p:cNvSpPr txBox="1"/>
          <p:nvPr/>
        </p:nvSpPr>
        <p:spPr>
          <a:xfrm>
            <a:off x="4732020" y="5701284"/>
            <a:ext cx="1792223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10" b="0">
                <a:solidFill>
                  <a:srgbClr val="414141"/>
                </a:solidFill>
                <a:latin typeface="Aptos"/>
              </a:defRPr>
            </a:pPr>
            <a:r>
              <a:t>Ensemble deep learning</a:t>
            </a:r>
          </a:p>
        </p:txBody>
      </p:sp>
      <p:sp>
        <p:nvSpPr>
          <p:cNvPr id="326" name="Rectangle 325"/>
          <p:cNvSpPr/>
          <p:nvPr/>
        </p:nvSpPr>
        <p:spPr>
          <a:xfrm>
            <a:off x="6565391" y="5669280"/>
            <a:ext cx="2148840" cy="475488"/>
          </a:xfrm>
          <a:prstGeom prst="rect">
            <a:avLst/>
          </a:prstGeom>
          <a:solidFill>
            <a:srgbClr val="FFFFFF"/>
          </a:solidFill>
          <a:ln>
            <a:solidFill>
              <a:srgbClr val="CDDA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7" name="TextBox 326"/>
          <p:cNvSpPr txBox="1"/>
          <p:nvPr/>
        </p:nvSpPr>
        <p:spPr>
          <a:xfrm>
            <a:off x="6606539" y="5701284"/>
            <a:ext cx="20665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10" b="0">
                <a:solidFill>
                  <a:srgbClr val="414141"/>
                </a:solidFill>
                <a:latin typeface="Aptos"/>
              </a:defRPr>
            </a:pPr>
            <a:r>
              <a:t>Early-stage anomaly detection demonstrated</a:t>
            </a:r>
          </a:p>
        </p:txBody>
      </p:sp>
      <p:sp>
        <p:nvSpPr>
          <p:cNvPr id="328" name="Rectangle 327"/>
          <p:cNvSpPr/>
          <p:nvPr/>
        </p:nvSpPr>
        <p:spPr>
          <a:xfrm>
            <a:off x="8714231" y="5669280"/>
            <a:ext cx="2971800" cy="475488"/>
          </a:xfrm>
          <a:prstGeom prst="rect">
            <a:avLst/>
          </a:prstGeom>
          <a:solidFill>
            <a:srgbClr val="FFFFFF"/>
          </a:solidFill>
          <a:ln>
            <a:solidFill>
              <a:srgbClr val="CDDA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9" name="TextBox 328"/>
          <p:cNvSpPr txBox="1"/>
          <p:nvPr/>
        </p:nvSpPr>
        <p:spPr>
          <a:xfrm>
            <a:off x="8755379" y="5701284"/>
            <a:ext cx="288950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10" b="0">
                <a:solidFill>
                  <a:srgbClr val="414141"/>
                </a:solidFill>
                <a:latin typeface="Aptos"/>
              </a:defRPr>
            </a:pPr>
            <a:r>
              <a:t>Specific crop focus; wider farm context not integrated</a:t>
            </a:r>
            <a:br/>
            <a:r>
              <a:rPr u="sng">
                <a:solidFill>
                  <a:srgbClr val="1E5AA0"/>
                </a:solidFill>
                <a:hlinkClick r:id="rId11"/>
              </a:rPr>
              <a:t>DOI: 10.3389/fpls.2022.991134</a:t>
            </a:r>
          </a:p>
        </p:txBody>
      </p:sp>
      <p:sp>
        <p:nvSpPr>
          <p:cNvPr id="330" name="TextBox 329"/>
          <p:cNvSpPr txBox="1"/>
          <p:nvPr/>
        </p:nvSpPr>
        <p:spPr>
          <a:xfrm>
            <a:off x="548640" y="6144768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 i="1">
                <a:solidFill>
                  <a:srgbClr val="737373"/>
                </a:solidFill>
              </a:defRPr>
            </a:pPr>
            <a:r>
              <a:t>Compact table: paper title, methodology, key finding, research gap and DOI are shown for quick review.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klh_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325880" cy="598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38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691640" y="256032"/>
            <a:ext cx="9966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A2D42"/>
                </a:solidFill>
                <a:latin typeface="Aptos Display"/>
              </a:defRPr>
            </a:pPr>
            <a:r>
              <a:t>Literature Survey – Existing Research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09928" y="768096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238250"/>
                </a:solidFill>
              </a:defRPr>
            </a:pPr>
            <a:r>
              <a:t>18 peer-reviewed / indexed studies • 2020 onwards • Part 2</a:t>
            </a:r>
          </a:p>
        </p:txBody>
      </p:sp>
      <p:sp>
        <p:nvSpPr>
          <p:cNvPr id="206" name="Rectangle 205"/>
          <p:cNvSpPr/>
          <p:nvPr/>
        </p:nvSpPr>
        <p:spPr>
          <a:xfrm>
            <a:off x="502920" y="6446520"/>
            <a:ext cx="11155680" cy="16459"/>
          </a:xfrm>
          <a:prstGeom prst="rect">
            <a:avLst/>
          </a:prstGeom>
          <a:solidFill>
            <a:srgbClr val="D7E1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7" name="TextBox 206"/>
          <p:cNvSpPr txBox="1"/>
          <p:nvPr/>
        </p:nvSpPr>
        <p:spPr>
          <a:xfrm>
            <a:off x="594360" y="6510528"/>
            <a:ext cx="2926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737373"/>
                </a:solidFill>
              </a:defRPr>
            </a:pPr>
            <a:r>
              <a:t>AGRI-INTELLIGENCE | REVIEW – 2</a:t>
            </a:r>
          </a:p>
        </p:txBody>
      </p:sp>
      <p:sp>
        <p:nvSpPr>
          <p:cNvPr id="208" name="TextBox 207"/>
          <p:cNvSpPr txBox="1"/>
          <p:nvPr/>
        </p:nvSpPr>
        <p:spPr>
          <a:xfrm>
            <a:off x="10881360" y="651052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737373"/>
                </a:solidFill>
              </a:defRPr>
            </a:pPr>
            <a:r>
              <a:t>11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1737360" y="914400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38250"/>
                </a:solidFill>
              </a:defRPr>
            </a:pPr>
            <a:r>
              <a:t>18 selected research papers • 2020 onwards • Literature Survey – Part 2</a:t>
            </a:r>
          </a:p>
        </p:txBody>
      </p:sp>
      <p:sp>
        <p:nvSpPr>
          <p:cNvPr id="210" name="Rectangle 209"/>
          <p:cNvSpPr/>
          <p:nvPr/>
        </p:nvSpPr>
        <p:spPr>
          <a:xfrm>
            <a:off x="502920" y="1298448"/>
            <a:ext cx="438912" cy="566928"/>
          </a:xfrm>
          <a:prstGeom prst="rect">
            <a:avLst/>
          </a:prstGeom>
          <a:solidFill>
            <a:srgbClr val="12523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1" name="TextBox 210"/>
          <p:cNvSpPr txBox="1"/>
          <p:nvPr/>
        </p:nvSpPr>
        <p:spPr>
          <a:xfrm>
            <a:off x="539496" y="1344168"/>
            <a:ext cx="365759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S.No.</a:t>
            </a:r>
            <a:br/>
            <a:r>
              <a:t>Year</a:t>
            </a:r>
          </a:p>
        </p:txBody>
      </p:sp>
      <p:sp>
        <p:nvSpPr>
          <p:cNvPr id="212" name="Rectangle 211"/>
          <p:cNvSpPr/>
          <p:nvPr/>
        </p:nvSpPr>
        <p:spPr>
          <a:xfrm>
            <a:off x="941832" y="1298448"/>
            <a:ext cx="1234440" cy="566928"/>
          </a:xfrm>
          <a:prstGeom prst="rect">
            <a:avLst/>
          </a:prstGeom>
          <a:solidFill>
            <a:srgbClr val="12523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3" name="TextBox 212"/>
          <p:cNvSpPr txBox="1"/>
          <p:nvPr/>
        </p:nvSpPr>
        <p:spPr>
          <a:xfrm>
            <a:off x="978408" y="1344168"/>
            <a:ext cx="1161288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Authors</a:t>
            </a:r>
          </a:p>
        </p:txBody>
      </p:sp>
      <p:sp>
        <p:nvSpPr>
          <p:cNvPr id="214" name="Rectangle 213"/>
          <p:cNvSpPr/>
          <p:nvPr/>
        </p:nvSpPr>
        <p:spPr>
          <a:xfrm>
            <a:off x="2176272" y="1298448"/>
            <a:ext cx="2514600" cy="566928"/>
          </a:xfrm>
          <a:prstGeom prst="rect">
            <a:avLst/>
          </a:prstGeom>
          <a:solidFill>
            <a:srgbClr val="12523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5" name="TextBox 214"/>
          <p:cNvSpPr txBox="1"/>
          <p:nvPr/>
        </p:nvSpPr>
        <p:spPr>
          <a:xfrm>
            <a:off x="2212848" y="1344168"/>
            <a:ext cx="2441448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Research Paper</a:t>
            </a:r>
          </a:p>
        </p:txBody>
      </p:sp>
      <p:sp>
        <p:nvSpPr>
          <p:cNvPr id="216" name="Rectangle 215"/>
          <p:cNvSpPr/>
          <p:nvPr/>
        </p:nvSpPr>
        <p:spPr>
          <a:xfrm>
            <a:off x="4690872" y="1298448"/>
            <a:ext cx="1874519" cy="566928"/>
          </a:xfrm>
          <a:prstGeom prst="rect">
            <a:avLst/>
          </a:prstGeom>
          <a:solidFill>
            <a:srgbClr val="12523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7" name="TextBox 216"/>
          <p:cNvSpPr txBox="1"/>
          <p:nvPr/>
        </p:nvSpPr>
        <p:spPr>
          <a:xfrm>
            <a:off x="4727448" y="1344168"/>
            <a:ext cx="1801367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Method / Model</a:t>
            </a:r>
          </a:p>
        </p:txBody>
      </p:sp>
      <p:sp>
        <p:nvSpPr>
          <p:cNvPr id="218" name="Rectangle 217"/>
          <p:cNvSpPr/>
          <p:nvPr/>
        </p:nvSpPr>
        <p:spPr>
          <a:xfrm>
            <a:off x="6565391" y="1298448"/>
            <a:ext cx="2148840" cy="566928"/>
          </a:xfrm>
          <a:prstGeom prst="rect">
            <a:avLst/>
          </a:prstGeom>
          <a:solidFill>
            <a:srgbClr val="12523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9" name="TextBox 218"/>
          <p:cNvSpPr txBox="1"/>
          <p:nvPr/>
        </p:nvSpPr>
        <p:spPr>
          <a:xfrm>
            <a:off x="6601967" y="1344168"/>
            <a:ext cx="2075688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Key Findings</a:t>
            </a:r>
          </a:p>
        </p:txBody>
      </p:sp>
      <p:sp>
        <p:nvSpPr>
          <p:cNvPr id="220" name="Rectangle 219"/>
          <p:cNvSpPr/>
          <p:nvPr/>
        </p:nvSpPr>
        <p:spPr>
          <a:xfrm>
            <a:off x="8714231" y="1298448"/>
            <a:ext cx="2971800" cy="566928"/>
          </a:xfrm>
          <a:prstGeom prst="rect">
            <a:avLst/>
          </a:prstGeom>
          <a:solidFill>
            <a:srgbClr val="12523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1" name="TextBox 220"/>
          <p:cNvSpPr txBox="1"/>
          <p:nvPr/>
        </p:nvSpPr>
        <p:spPr>
          <a:xfrm>
            <a:off x="8750807" y="1344168"/>
            <a:ext cx="2898648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Research Gap / DOI</a:t>
            </a:r>
          </a:p>
        </p:txBody>
      </p:sp>
      <p:sp>
        <p:nvSpPr>
          <p:cNvPr id="222" name="Rectangle 221"/>
          <p:cNvSpPr/>
          <p:nvPr/>
        </p:nvSpPr>
        <p:spPr>
          <a:xfrm>
            <a:off x="502920" y="1865376"/>
            <a:ext cx="438912" cy="475488"/>
          </a:xfrm>
          <a:prstGeom prst="rect">
            <a:avLst/>
          </a:prstGeom>
          <a:solidFill>
            <a:srgbClr val="FFFFFF"/>
          </a:solidFill>
          <a:ln>
            <a:solidFill>
              <a:srgbClr val="CDDA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3" name="TextBox 222"/>
          <p:cNvSpPr txBox="1"/>
          <p:nvPr/>
        </p:nvSpPr>
        <p:spPr>
          <a:xfrm>
            <a:off x="544068" y="1897380"/>
            <a:ext cx="3566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10" b="0">
                <a:solidFill>
                  <a:srgbClr val="1A2D42"/>
                </a:solidFill>
                <a:latin typeface="Aptos"/>
              </a:defRPr>
            </a:pPr>
            <a:r>
              <a:t>1</a:t>
            </a:r>
            <a:br/>
            <a:r>
              <a:t>2020</a:t>
            </a:r>
          </a:p>
        </p:txBody>
      </p:sp>
      <p:sp>
        <p:nvSpPr>
          <p:cNvPr id="224" name="Rectangle 223"/>
          <p:cNvSpPr/>
          <p:nvPr/>
        </p:nvSpPr>
        <p:spPr>
          <a:xfrm>
            <a:off x="941832" y="1865376"/>
            <a:ext cx="1234440" cy="475488"/>
          </a:xfrm>
          <a:prstGeom prst="rect">
            <a:avLst/>
          </a:prstGeom>
          <a:solidFill>
            <a:srgbClr val="FFFFFF"/>
          </a:solidFill>
          <a:ln>
            <a:solidFill>
              <a:srgbClr val="CDDA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5" name="TextBox 224"/>
          <p:cNvSpPr txBox="1"/>
          <p:nvPr/>
        </p:nvSpPr>
        <p:spPr>
          <a:xfrm>
            <a:off x="982980" y="1897380"/>
            <a:ext cx="11521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10" b="0">
                <a:solidFill>
                  <a:srgbClr val="1A2D42"/>
                </a:solidFill>
                <a:latin typeface="Aptos"/>
              </a:defRPr>
            </a:pPr>
            <a:r>
              <a:t>van Klompenburg et al.</a:t>
            </a:r>
          </a:p>
        </p:txBody>
      </p:sp>
      <p:sp>
        <p:nvSpPr>
          <p:cNvPr id="226" name="Rectangle 225"/>
          <p:cNvSpPr/>
          <p:nvPr/>
        </p:nvSpPr>
        <p:spPr>
          <a:xfrm>
            <a:off x="2176272" y="1865376"/>
            <a:ext cx="2514600" cy="475488"/>
          </a:xfrm>
          <a:prstGeom prst="rect">
            <a:avLst/>
          </a:prstGeom>
          <a:solidFill>
            <a:srgbClr val="FFFFFF"/>
          </a:solidFill>
          <a:ln>
            <a:solidFill>
              <a:srgbClr val="CDDA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7" name="TextBox 226"/>
          <p:cNvSpPr txBox="1"/>
          <p:nvPr/>
        </p:nvSpPr>
        <p:spPr>
          <a:xfrm>
            <a:off x="2217420" y="1897380"/>
            <a:ext cx="243230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1A2D42"/>
                </a:solidFill>
                <a:latin typeface="Aptos"/>
              </a:defRPr>
            </a:pPr>
            <a:r>
              <a:t>Crop yield prediction using machine learning: A systematic literature review</a:t>
            </a:r>
          </a:p>
        </p:txBody>
      </p:sp>
      <p:sp>
        <p:nvSpPr>
          <p:cNvPr id="228" name="Rectangle 227"/>
          <p:cNvSpPr/>
          <p:nvPr/>
        </p:nvSpPr>
        <p:spPr>
          <a:xfrm>
            <a:off x="4690872" y="1865376"/>
            <a:ext cx="1874519" cy="475488"/>
          </a:xfrm>
          <a:prstGeom prst="rect">
            <a:avLst/>
          </a:prstGeom>
          <a:solidFill>
            <a:srgbClr val="FFFFFF"/>
          </a:solidFill>
          <a:ln>
            <a:solidFill>
              <a:srgbClr val="CDDA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9" name="TextBox 228"/>
          <p:cNvSpPr txBox="1"/>
          <p:nvPr/>
        </p:nvSpPr>
        <p:spPr>
          <a:xfrm>
            <a:off x="4732020" y="1897380"/>
            <a:ext cx="1792223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10" b="0">
                <a:solidFill>
                  <a:srgbClr val="414141"/>
                </a:solidFill>
                <a:latin typeface="Aptos"/>
              </a:defRPr>
            </a:pPr>
            <a:r>
              <a:t>ANN / CNN / LSTM / DNN</a:t>
            </a:r>
          </a:p>
        </p:txBody>
      </p:sp>
      <p:sp>
        <p:nvSpPr>
          <p:cNvPr id="230" name="Rectangle 229"/>
          <p:cNvSpPr/>
          <p:nvPr/>
        </p:nvSpPr>
        <p:spPr>
          <a:xfrm>
            <a:off x="6565391" y="1865376"/>
            <a:ext cx="2148840" cy="475488"/>
          </a:xfrm>
          <a:prstGeom prst="rect">
            <a:avLst/>
          </a:prstGeom>
          <a:solidFill>
            <a:srgbClr val="FFFFFF"/>
          </a:solidFill>
          <a:ln>
            <a:solidFill>
              <a:srgbClr val="CDDA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1" name="TextBox 230"/>
          <p:cNvSpPr txBox="1"/>
          <p:nvPr/>
        </p:nvSpPr>
        <p:spPr>
          <a:xfrm>
            <a:off x="6606539" y="1897380"/>
            <a:ext cx="20665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10" b="0">
                <a:solidFill>
                  <a:srgbClr val="414141"/>
                </a:solidFill>
                <a:latin typeface="Aptos"/>
              </a:defRPr>
            </a:pPr>
            <a:r>
              <a:t>Weather, rainfall and soil are common predictors</a:t>
            </a:r>
          </a:p>
        </p:txBody>
      </p:sp>
      <p:sp>
        <p:nvSpPr>
          <p:cNvPr id="232" name="Rectangle 231"/>
          <p:cNvSpPr/>
          <p:nvPr/>
        </p:nvSpPr>
        <p:spPr>
          <a:xfrm>
            <a:off x="8714231" y="1865376"/>
            <a:ext cx="2971800" cy="475488"/>
          </a:xfrm>
          <a:prstGeom prst="rect">
            <a:avLst/>
          </a:prstGeom>
          <a:solidFill>
            <a:srgbClr val="FFFFFF"/>
          </a:solidFill>
          <a:ln>
            <a:solidFill>
              <a:srgbClr val="CDDA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3" name="TextBox 232"/>
          <p:cNvSpPr txBox="1"/>
          <p:nvPr/>
        </p:nvSpPr>
        <p:spPr>
          <a:xfrm>
            <a:off x="8755379" y="1897380"/>
            <a:ext cx="288950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10" b="0">
                <a:solidFill>
                  <a:srgbClr val="414141"/>
                </a:solidFill>
                <a:latin typeface="Aptos"/>
              </a:defRPr>
            </a:pPr>
            <a:r>
              <a:t>Fragmented datasets/models rather than one integrated platform</a:t>
            </a:r>
            <a:br/>
            <a:r>
              <a:rPr u="sng">
                <a:solidFill>
                  <a:srgbClr val="1E5AA0"/>
                </a:solidFill>
                <a:hlinkClick r:id="rId3"/>
              </a:rPr>
              <a:t>DOI: 10.1016/j.compag.2020.105709</a:t>
            </a:r>
          </a:p>
        </p:txBody>
      </p:sp>
      <p:sp>
        <p:nvSpPr>
          <p:cNvPr id="234" name="Rectangle 233"/>
          <p:cNvSpPr/>
          <p:nvPr/>
        </p:nvSpPr>
        <p:spPr>
          <a:xfrm>
            <a:off x="502920" y="2340864"/>
            <a:ext cx="438912" cy="475488"/>
          </a:xfrm>
          <a:prstGeom prst="rect">
            <a:avLst/>
          </a:prstGeom>
          <a:solidFill>
            <a:srgbClr val="F7FAF8"/>
          </a:solidFill>
          <a:ln>
            <a:solidFill>
              <a:srgbClr val="CDDA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5" name="TextBox 234"/>
          <p:cNvSpPr txBox="1"/>
          <p:nvPr/>
        </p:nvSpPr>
        <p:spPr>
          <a:xfrm>
            <a:off x="544068" y="2372868"/>
            <a:ext cx="3566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10" b="0">
                <a:solidFill>
                  <a:srgbClr val="1A2D42"/>
                </a:solidFill>
                <a:latin typeface="Aptos"/>
              </a:defRPr>
            </a:pPr>
            <a:r>
              <a:t>2</a:t>
            </a:r>
            <a:br/>
            <a:r>
              <a:t>2021</a:t>
            </a:r>
          </a:p>
        </p:txBody>
      </p:sp>
      <p:sp>
        <p:nvSpPr>
          <p:cNvPr id="236" name="Rectangle 235"/>
          <p:cNvSpPr/>
          <p:nvPr/>
        </p:nvSpPr>
        <p:spPr>
          <a:xfrm>
            <a:off x="941832" y="2340864"/>
            <a:ext cx="1234440" cy="475488"/>
          </a:xfrm>
          <a:prstGeom prst="rect">
            <a:avLst/>
          </a:prstGeom>
          <a:solidFill>
            <a:srgbClr val="F7FAF8"/>
          </a:solidFill>
          <a:ln>
            <a:solidFill>
              <a:srgbClr val="CDDA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7" name="TextBox 236"/>
          <p:cNvSpPr txBox="1"/>
          <p:nvPr/>
        </p:nvSpPr>
        <p:spPr>
          <a:xfrm>
            <a:off x="982980" y="2372868"/>
            <a:ext cx="11521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10" b="0">
                <a:solidFill>
                  <a:srgbClr val="1A2D42"/>
                </a:solidFill>
                <a:latin typeface="Aptos"/>
              </a:defRPr>
            </a:pPr>
            <a:r>
              <a:t>Shook et al.</a:t>
            </a:r>
          </a:p>
        </p:txBody>
      </p:sp>
      <p:sp>
        <p:nvSpPr>
          <p:cNvPr id="238" name="Rectangle 237"/>
          <p:cNvSpPr/>
          <p:nvPr/>
        </p:nvSpPr>
        <p:spPr>
          <a:xfrm>
            <a:off x="2176272" y="2340864"/>
            <a:ext cx="2514600" cy="475488"/>
          </a:xfrm>
          <a:prstGeom prst="rect">
            <a:avLst/>
          </a:prstGeom>
          <a:solidFill>
            <a:srgbClr val="F7FAF8"/>
          </a:solidFill>
          <a:ln>
            <a:solidFill>
              <a:srgbClr val="CDDA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9" name="TextBox 238"/>
          <p:cNvSpPr txBox="1"/>
          <p:nvPr/>
        </p:nvSpPr>
        <p:spPr>
          <a:xfrm>
            <a:off x="2217420" y="2372868"/>
            <a:ext cx="243230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1A2D42"/>
                </a:solidFill>
                <a:latin typeface="Aptos"/>
              </a:defRPr>
            </a:pPr>
            <a:r>
              <a:t>Crop yield prediction integrating genotype and weather variables using deep learning</a:t>
            </a:r>
          </a:p>
        </p:txBody>
      </p:sp>
      <p:sp>
        <p:nvSpPr>
          <p:cNvPr id="240" name="Rectangle 239"/>
          <p:cNvSpPr/>
          <p:nvPr/>
        </p:nvSpPr>
        <p:spPr>
          <a:xfrm>
            <a:off x="4690872" y="2340864"/>
            <a:ext cx="1874519" cy="475488"/>
          </a:xfrm>
          <a:prstGeom prst="rect">
            <a:avLst/>
          </a:prstGeom>
          <a:solidFill>
            <a:srgbClr val="F7FAF8"/>
          </a:solidFill>
          <a:ln>
            <a:solidFill>
              <a:srgbClr val="CDDA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1" name="TextBox 240"/>
          <p:cNvSpPr txBox="1"/>
          <p:nvPr/>
        </p:nvSpPr>
        <p:spPr>
          <a:xfrm>
            <a:off x="4732020" y="2372868"/>
            <a:ext cx="1792223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10" b="0">
                <a:solidFill>
                  <a:srgbClr val="414141"/>
                </a:solidFill>
                <a:latin typeface="Aptos"/>
              </a:defRPr>
            </a:pPr>
            <a:r>
              <a:t>LSTM with temporal attention</a:t>
            </a:r>
          </a:p>
        </p:txBody>
      </p:sp>
      <p:sp>
        <p:nvSpPr>
          <p:cNvPr id="242" name="Rectangle 241"/>
          <p:cNvSpPr/>
          <p:nvPr/>
        </p:nvSpPr>
        <p:spPr>
          <a:xfrm>
            <a:off x="6565391" y="2340864"/>
            <a:ext cx="2148840" cy="475488"/>
          </a:xfrm>
          <a:prstGeom prst="rect">
            <a:avLst/>
          </a:prstGeom>
          <a:solidFill>
            <a:srgbClr val="F7FAF8"/>
          </a:solidFill>
          <a:ln>
            <a:solidFill>
              <a:srgbClr val="CDDA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3" name="TextBox 242"/>
          <p:cNvSpPr txBox="1"/>
          <p:nvPr/>
        </p:nvSpPr>
        <p:spPr>
          <a:xfrm>
            <a:off x="6606539" y="2372868"/>
            <a:ext cx="20665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10" b="0">
                <a:solidFill>
                  <a:srgbClr val="414141"/>
                </a:solidFill>
                <a:latin typeface="Aptos"/>
              </a:defRPr>
            </a:pPr>
            <a:r>
              <a:t>Improved prediction across environments</a:t>
            </a:r>
          </a:p>
        </p:txBody>
      </p:sp>
      <p:sp>
        <p:nvSpPr>
          <p:cNvPr id="244" name="Rectangle 243"/>
          <p:cNvSpPr/>
          <p:nvPr/>
        </p:nvSpPr>
        <p:spPr>
          <a:xfrm>
            <a:off x="8714231" y="2340864"/>
            <a:ext cx="2971800" cy="475488"/>
          </a:xfrm>
          <a:prstGeom prst="rect">
            <a:avLst/>
          </a:prstGeom>
          <a:solidFill>
            <a:srgbClr val="F7FAF8"/>
          </a:solidFill>
          <a:ln>
            <a:solidFill>
              <a:srgbClr val="CDDA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5" name="TextBox 244"/>
          <p:cNvSpPr txBox="1"/>
          <p:nvPr/>
        </p:nvSpPr>
        <p:spPr>
          <a:xfrm>
            <a:off x="8755379" y="2372868"/>
            <a:ext cx="288950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10" b="0">
                <a:solidFill>
                  <a:srgbClr val="414141"/>
                </a:solidFill>
                <a:latin typeface="Aptos"/>
              </a:defRPr>
            </a:pPr>
            <a:r>
              <a:t>Genotype/weather centered; no disease, irrigation or market intelligence</a:t>
            </a:r>
            <a:br/>
            <a:r>
              <a:rPr u="sng">
                <a:solidFill>
                  <a:srgbClr val="1E5AA0"/>
                </a:solidFill>
                <a:hlinkClick r:id="rId4"/>
              </a:rPr>
              <a:t>DOI: 10.1371/journal.pone.0252402</a:t>
            </a:r>
          </a:p>
        </p:txBody>
      </p:sp>
      <p:sp>
        <p:nvSpPr>
          <p:cNvPr id="246" name="Rectangle 245"/>
          <p:cNvSpPr/>
          <p:nvPr/>
        </p:nvSpPr>
        <p:spPr>
          <a:xfrm>
            <a:off x="502920" y="2816352"/>
            <a:ext cx="438912" cy="475488"/>
          </a:xfrm>
          <a:prstGeom prst="rect">
            <a:avLst/>
          </a:prstGeom>
          <a:solidFill>
            <a:srgbClr val="FFFFFF"/>
          </a:solidFill>
          <a:ln>
            <a:solidFill>
              <a:srgbClr val="CDDA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7" name="TextBox 246"/>
          <p:cNvSpPr txBox="1"/>
          <p:nvPr/>
        </p:nvSpPr>
        <p:spPr>
          <a:xfrm>
            <a:off x="544068" y="2848356"/>
            <a:ext cx="3566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10" b="0">
                <a:solidFill>
                  <a:srgbClr val="1A2D42"/>
                </a:solidFill>
                <a:latin typeface="Aptos"/>
              </a:defRPr>
            </a:pPr>
            <a:r>
              <a:t>3</a:t>
            </a:r>
            <a:br/>
            <a:r>
              <a:t>2022</a:t>
            </a:r>
          </a:p>
        </p:txBody>
      </p:sp>
      <p:sp>
        <p:nvSpPr>
          <p:cNvPr id="248" name="Rectangle 247"/>
          <p:cNvSpPr/>
          <p:nvPr/>
        </p:nvSpPr>
        <p:spPr>
          <a:xfrm>
            <a:off x="941832" y="2816352"/>
            <a:ext cx="1234440" cy="475488"/>
          </a:xfrm>
          <a:prstGeom prst="rect">
            <a:avLst/>
          </a:prstGeom>
          <a:solidFill>
            <a:srgbClr val="FFFFFF"/>
          </a:solidFill>
          <a:ln>
            <a:solidFill>
              <a:srgbClr val="CDDA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9" name="TextBox 248"/>
          <p:cNvSpPr txBox="1"/>
          <p:nvPr/>
        </p:nvSpPr>
        <p:spPr>
          <a:xfrm>
            <a:off x="982980" y="2848356"/>
            <a:ext cx="11521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10" b="0">
                <a:solidFill>
                  <a:srgbClr val="1A2D42"/>
                </a:solidFill>
                <a:latin typeface="Aptos"/>
              </a:defRPr>
            </a:pPr>
            <a:r>
              <a:t>Srivastava et al.</a:t>
            </a:r>
          </a:p>
        </p:txBody>
      </p:sp>
      <p:sp>
        <p:nvSpPr>
          <p:cNvPr id="250" name="Rectangle 249"/>
          <p:cNvSpPr/>
          <p:nvPr/>
        </p:nvSpPr>
        <p:spPr>
          <a:xfrm>
            <a:off x="2176272" y="2816352"/>
            <a:ext cx="2514600" cy="475488"/>
          </a:xfrm>
          <a:prstGeom prst="rect">
            <a:avLst/>
          </a:prstGeom>
          <a:solidFill>
            <a:srgbClr val="FFFFFF"/>
          </a:solidFill>
          <a:ln>
            <a:solidFill>
              <a:srgbClr val="CDDA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1" name="TextBox 250"/>
          <p:cNvSpPr txBox="1"/>
          <p:nvPr/>
        </p:nvSpPr>
        <p:spPr>
          <a:xfrm>
            <a:off x="2217420" y="2848356"/>
            <a:ext cx="243230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1A2D42"/>
                </a:solidFill>
                <a:latin typeface="Aptos"/>
              </a:defRPr>
            </a:pPr>
            <a:r>
              <a:t>Winter wheat yield prediction using CNNs from environmental and phenological data</a:t>
            </a:r>
          </a:p>
        </p:txBody>
      </p:sp>
      <p:sp>
        <p:nvSpPr>
          <p:cNvPr id="252" name="Rectangle 251"/>
          <p:cNvSpPr/>
          <p:nvPr/>
        </p:nvSpPr>
        <p:spPr>
          <a:xfrm>
            <a:off x="4690872" y="2816352"/>
            <a:ext cx="1874519" cy="475488"/>
          </a:xfrm>
          <a:prstGeom prst="rect">
            <a:avLst/>
          </a:prstGeom>
          <a:solidFill>
            <a:srgbClr val="FFFFFF"/>
          </a:solidFill>
          <a:ln>
            <a:solidFill>
              <a:srgbClr val="CDDA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3" name="TextBox 252"/>
          <p:cNvSpPr txBox="1"/>
          <p:nvPr/>
        </p:nvSpPr>
        <p:spPr>
          <a:xfrm>
            <a:off x="4732020" y="2848356"/>
            <a:ext cx="1792223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10" b="0">
                <a:solidFill>
                  <a:srgbClr val="414141"/>
                </a:solidFill>
                <a:latin typeface="Aptos"/>
              </a:defRPr>
            </a:pPr>
            <a:r>
              <a:t>CNN / ML</a:t>
            </a:r>
          </a:p>
        </p:txBody>
      </p:sp>
      <p:sp>
        <p:nvSpPr>
          <p:cNvPr id="254" name="Rectangle 253"/>
          <p:cNvSpPr/>
          <p:nvPr/>
        </p:nvSpPr>
        <p:spPr>
          <a:xfrm>
            <a:off x="6565391" y="2816352"/>
            <a:ext cx="2148840" cy="475488"/>
          </a:xfrm>
          <a:prstGeom prst="rect">
            <a:avLst/>
          </a:prstGeom>
          <a:solidFill>
            <a:srgbClr val="FFFFFF"/>
          </a:solidFill>
          <a:ln>
            <a:solidFill>
              <a:srgbClr val="CDDA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5" name="TextBox 254"/>
          <p:cNvSpPr txBox="1"/>
          <p:nvPr/>
        </p:nvSpPr>
        <p:spPr>
          <a:xfrm>
            <a:off x="6606539" y="2848356"/>
            <a:ext cx="20665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10" b="0">
                <a:solidFill>
                  <a:srgbClr val="414141"/>
                </a:solidFill>
                <a:latin typeface="Aptos"/>
              </a:defRPr>
            </a:pPr>
            <a:r>
              <a:t>Regional wheat yield forecasting</a:t>
            </a:r>
          </a:p>
        </p:txBody>
      </p:sp>
      <p:sp>
        <p:nvSpPr>
          <p:cNvPr id="256" name="Rectangle 255"/>
          <p:cNvSpPr/>
          <p:nvPr/>
        </p:nvSpPr>
        <p:spPr>
          <a:xfrm>
            <a:off x="8714231" y="2816352"/>
            <a:ext cx="2971800" cy="475488"/>
          </a:xfrm>
          <a:prstGeom prst="rect">
            <a:avLst/>
          </a:prstGeom>
          <a:solidFill>
            <a:srgbClr val="FFFFFF"/>
          </a:solidFill>
          <a:ln>
            <a:solidFill>
              <a:srgbClr val="CDDA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7" name="TextBox 256"/>
          <p:cNvSpPr txBox="1"/>
          <p:nvPr/>
        </p:nvSpPr>
        <p:spPr>
          <a:xfrm>
            <a:off x="8755379" y="2848356"/>
            <a:ext cx="288950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10" b="0">
                <a:solidFill>
                  <a:srgbClr val="414141"/>
                </a:solidFill>
                <a:latin typeface="Aptos"/>
              </a:defRPr>
            </a:pPr>
            <a:r>
              <a:t>Crop/region specific; limited farmer-facing recommendations</a:t>
            </a:r>
            <a:br/>
            <a:r>
              <a:rPr u="sng">
                <a:solidFill>
                  <a:srgbClr val="1E5AA0"/>
                </a:solidFill>
                <a:hlinkClick r:id="rId5"/>
              </a:rPr>
              <a:t>DOI: 10.1038/s41598-022-06249-w</a:t>
            </a:r>
          </a:p>
        </p:txBody>
      </p:sp>
      <p:sp>
        <p:nvSpPr>
          <p:cNvPr id="258" name="Rectangle 257"/>
          <p:cNvSpPr/>
          <p:nvPr/>
        </p:nvSpPr>
        <p:spPr>
          <a:xfrm>
            <a:off x="502920" y="3291840"/>
            <a:ext cx="438912" cy="475488"/>
          </a:xfrm>
          <a:prstGeom prst="rect">
            <a:avLst/>
          </a:prstGeom>
          <a:solidFill>
            <a:srgbClr val="F7FAF8"/>
          </a:solidFill>
          <a:ln>
            <a:solidFill>
              <a:srgbClr val="CDDA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9" name="TextBox 258"/>
          <p:cNvSpPr txBox="1"/>
          <p:nvPr/>
        </p:nvSpPr>
        <p:spPr>
          <a:xfrm>
            <a:off x="544068" y="3323844"/>
            <a:ext cx="3566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10" b="0">
                <a:solidFill>
                  <a:srgbClr val="1A2D42"/>
                </a:solidFill>
                <a:latin typeface="Aptos"/>
              </a:defRPr>
            </a:pPr>
            <a:r>
              <a:t>4</a:t>
            </a:r>
            <a:br/>
            <a:r>
              <a:t>2022</a:t>
            </a:r>
          </a:p>
        </p:txBody>
      </p:sp>
      <p:sp>
        <p:nvSpPr>
          <p:cNvPr id="260" name="Rectangle 259"/>
          <p:cNvSpPr/>
          <p:nvPr/>
        </p:nvSpPr>
        <p:spPr>
          <a:xfrm>
            <a:off x="941832" y="3291840"/>
            <a:ext cx="1234440" cy="475488"/>
          </a:xfrm>
          <a:prstGeom prst="rect">
            <a:avLst/>
          </a:prstGeom>
          <a:solidFill>
            <a:srgbClr val="F7FAF8"/>
          </a:solidFill>
          <a:ln>
            <a:solidFill>
              <a:srgbClr val="CDDA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1" name="TextBox 260"/>
          <p:cNvSpPr txBox="1"/>
          <p:nvPr/>
        </p:nvSpPr>
        <p:spPr>
          <a:xfrm>
            <a:off x="982980" y="3323844"/>
            <a:ext cx="11521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10" b="0">
                <a:solidFill>
                  <a:srgbClr val="1A2D42"/>
                </a:solidFill>
                <a:latin typeface="Aptos"/>
              </a:defRPr>
            </a:pPr>
            <a:r>
              <a:t>Vinson Joshua et al.</a:t>
            </a:r>
          </a:p>
        </p:txBody>
      </p:sp>
      <p:sp>
        <p:nvSpPr>
          <p:cNvPr id="262" name="Rectangle 261"/>
          <p:cNvSpPr/>
          <p:nvPr/>
        </p:nvSpPr>
        <p:spPr>
          <a:xfrm>
            <a:off x="2176272" y="3291840"/>
            <a:ext cx="2514600" cy="475488"/>
          </a:xfrm>
          <a:prstGeom prst="rect">
            <a:avLst/>
          </a:prstGeom>
          <a:solidFill>
            <a:srgbClr val="F7FAF8"/>
          </a:solidFill>
          <a:ln>
            <a:solidFill>
              <a:srgbClr val="CDDA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3" name="TextBox 262"/>
          <p:cNvSpPr txBox="1"/>
          <p:nvPr/>
        </p:nvSpPr>
        <p:spPr>
          <a:xfrm>
            <a:off x="2217420" y="3323844"/>
            <a:ext cx="243230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1A2D42"/>
                </a:solidFill>
                <a:latin typeface="Aptos"/>
              </a:defRPr>
            </a:pPr>
            <a:r>
              <a:t>Crop Yield Prediction Using Machine Learning Approaches on a Wide Spectrum</a:t>
            </a:r>
          </a:p>
        </p:txBody>
      </p:sp>
      <p:sp>
        <p:nvSpPr>
          <p:cNvPr id="264" name="Rectangle 263"/>
          <p:cNvSpPr/>
          <p:nvPr/>
        </p:nvSpPr>
        <p:spPr>
          <a:xfrm>
            <a:off x="4690872" y="3291840"/>
            <a:ext cx="1874519" cy="475488"/>
          </a:xfrm>
          <a:prstGeom prst="rect">
            <a:avLst/>
          </a:prstGeom>
          <a:solidFill>
            <a:srgbClr val="F7FAF8"/>
          </a:solidFill>
          <a:ln>
            <a:solidFill>
              <a:srgbClr val="CDDA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5" name="TextBox 264"/>
          <p:cNvSpPr txBox="1"/>
          <p:nvPr/>
        </p:nvSpPr>
        <p:spPr>
          <a:xfrm>
            <a:off x="4732020" y="3323844"/>
            <a:ext cx="1792223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10" b="0">
                <a:solidFill>
                  <a:srgbClr val="414141"/>
                </a:solidFill>
                <a:latin typeface="Aptos"/>
              </a:defRPr>
            </a:pPr>
            <a:r>
              <a:t>BPNN / SVM / GRNN</a:t>
            </a:r>
          </a:p>
        </p:txBody>
      </p:sp>
      <p:sp>
        <p:nvSpPr>
          <p:cNvPr id="266" name="Rectangle 265"/>
          <p:cNvSpPr/>
          <p:nvPr/>
        </p:nvSpPr>
        <p:spPr>
          <a:xfrm>
            <a:off x="6565391" y="3291840"/>
            <a:ext cx="2148840" cy="475488"/>
          </a:xfrm>
          <a:prstGeom prst="rect">
            <a:avLst/>
          </a:prstGeom>
          <a:solidFill>
            <a:srgbClr val="F7FAF8"/>
          </a:solidFill>
          <a:ln>
            <a:solidFill>
              <a:srgbClr val="CDDA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7" name="TextBox 266"/>
          <p:cNvSpPr txBox="1"/>
          <p:nvPr/>
        </p:nvSpPr>
        <p:spPr>
          <a:xfrm>
            <a:off x="6606539" y="3323844"/>
            <a:ext cx="20665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10" b="0">
                <a:solidFill>
                  <a:srgbClr val="414141"/>
                </a:solidFill>
                <a:latin typeface="Aptos"/>
              </a:defRPr>
            </a:pPr>
            <a:r>
              <a:t>Strong paddy yield prediction</a:t>
            </a:r>
          </a:p>
        </p:txBody>
      </p:sp>
      <p:sp>
        <p:nvSpPr>
          <p:cNvPr id="268" name="Rectangle 267"/>
          <p:cNvSpPr/>
          <p:nvPr/>
        </p:nvSpPr>
        <p:spPr>
          <a:xfrm>
            <a:off x="8714231" y="3291840"/>
            <a:ext cx="2971800" cy="475488"/>
          </a:xfrm>
          <a:prstGeom prst="rect">
            <a:avLst/>
          </a:prstGeom>
          <a:solidFill>
            <a:srgbClr val="F7FAF8"/>
          </a:solidFill>
          <a:ln>
            <a:solidFill>
              <a:srgbClr val="CDDA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9" name="TextBox 268"/>
          <p:cNvSpPr txBox="1"/>
          <p:nvPr/>
        </p:nvSpPr>
        <p:spPr>
          <a:xfrm>
            <a:off x="8755379" y="3323844"/>
            <a:ext cx="288950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10" b="0">
                <a:solidFill>
                  <a:srgbClr val="414141"/>
                </a:solidFill>
                <a:latin typeface="Aptos"/>
              </a:defRPr>
            </a:pPr>
            <a:r>
              <a:t>Yield-focused and region-specific; no disease/market/alert integration</a:t>
            </a:r>
            <a:br/>
            <a:r>
              <a:rPr u="sng">
                <a:solidFill>
                  <a:srgbClr val="1E5AA0"/>
                </a:solidFill>
                <a:hlinkClick r:id="rId6"/>
              </a:rPr>
              <a:t>DOI: 10.32604/cmc.2022.027178</a:t>
            </a:r>
          </a:p>
        </p:txBody>
      </p:sp>
      <p:sp>
        <p:nvSpPr>
          <p:cNvPr id="270" name="Rectangle 269"/>
          <p:cNvSpPr/>
          <p:nvPr/>
        </p:nvSpPr>
        <p:spPr>
          <a:xfrm>
            <a:off x="502920" y="3767328"/>
            <a:ext cx="438912" cy="475488"/>
          </a:xfrm>
          <a:prstGeom prst="rect">
            <a:avLst/>
          </a:prstGeom>
          <a:solidFill>
            <a:srgbClr val="FFFFFF"/>
          </a:solidFill>
          <a:ln>
            <a:solidFill>
              <a:srgbClr val="CDDA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1" name="TextBox 270"/>
          <p:cNvSpPr txBox="1"/>
          <p:nvPr/>
        </p:nvSpPr>
        <p:spPr>
          <a:xfrm>
            <a:off x="544068" y="3799332"/>
            <a:ext cx="3566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10" b="0">
                <a:solidFill>
                  <a:srgbClr val="1A2D42"/>
                </a:solidFill>
                <a:latin typeface="Aptos"/>
              </a:defRPr>
            </a:pPr>
            <a:r>
              <a:t>5</a:t>
            </a:r>
            <a:br/>
            <a:r>
              <a:t>2022</a:t>
            </a:r>
          </a:p>
        </p:txBody>
      </p:sp>
      <p:sp>
        <p:nvSpPr>
          <p:cNvPr id="272" name="Rectangle 271"/>
          <p:cNvSpPr/>
          <p:nvPr/>
        </p:nvSpPr>
        <p:spPr>
          <a:xfrm>
            <a:off x="941832" y="3767328"/>
            <a:ext cx="1234440" cy="475488"/>
          </a:xfrm>
          <a:prstGeom prst="rect">
            <a:avLst/>
          </a:prstGeom>
          <a:solidFill>
            <a:srgbClr val="FFFFFF"/>
          </a:solidFill>
          <a:ln>
            <a:solidFill>
              <a:srgbClr val="CDDA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3" name="TextBox 272"/>
          <p:cNvSpPr txBox="1"/>
          <p:nvPr/>
        </p:nvSpPr>
        <p:spPr>
          <a:xfrm>
            <a:off x="982980" y="3799332"/>
            <a:ext cx="11521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10" b="0">
                <a:solidFill>
                  <a:srgbClr val="1A2D42"/>
                </a:solidFill>
                <a:latin typeface="Aptos"/>
              </a:defRPr>
            </a:pPr>
            <a:r>
              <a:t>Vianny et al.</a:t>
            </a:r>
          </a:p>
        </p:txBody>
      </p:sp>
      <p:sp>
        <p:nvSpPr>
          <p:cNvPr id="274" name="Rectangle 273"/>
          <p:cNvSpPr/>
          <p:nvPr/>
        </p:nvSpPr>
        <p:spPr>
          <a:xfrm>
            <a:off x="2176272" y="3767328"/>
            <a:ext cx="2514600" cy="475488"/>
          </a:xfrm>
          <a:prstGeom prst="rect">
            <a:avLst/>
          </a:prstGeom>
          <a:solidFill>
            <a:srgbClr val="FFFFFF"/>
          </a:solidFill>
          <a:ln>
            <a:solidFill>
              <a:srgbClr val="CDDA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5" name="TextBox 274"/>
          <p:cNvSpPr txBox="1"/>
          <p:nvPr/>
        </p:nvSpPr>
        <p:spPr>
          <a:xfrm>
            <a:off x="2217420" y="3799332"/>
            <a:ext cx="243230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1A2D42"/>
                </a:solidFill>
                <a:latin typeface="Aptos"/>
              </a:defRPr>
            </a:pPr>
            <a:r>
              <a:t>Water optimization technique for precision irrigation system using IoT and machine learning</a:t>
            </a:r>
          </a:p>
        </p:txBody>
      </p:sp>
      <p:sp>
        <p:nvSpPr>
          <p:cNvPr id="276" name="Rectangle 275"/>
          <p:cNvSpPr/>
          <p:nvPr/>
        </p:nvSpPr>
        <p:spPr>
          <a:xfrm>
            <a:off x="4690872" y="3767328"/>
            <a:ext cx="1874519" cy="475488"/>
          </a:xfrm>
          <a:prstGeom prst="rect">
            <a:avLst/>
          </a:prstGeom>
          <a:solidFill>
            <a:srgbClr val="FFFFFF"/>
          </a:solidFill>
          <a:ln>
            <a:solidFill>
              <a:srgbClr val="CDDA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7" name="TextBox 276"/>
          <p:cNvSpPr txBox="1"/>
          <p:nvPr/>
        </p:nvSpPr>
        <p:spPr>
          <a:xfrm>
            <a:off x="4732020" y="3799332"/>
            <a:ext cx="1792223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10" b="0">
                <a:solidFill>
                  <a:srgbClr val="414141"/>
                </a:solidFill>
                <a:latin typeface="Aptos"/>
              </a:defRPr>
            </a:pPr>
            <a:r>
              <a:t>IoT + ML</a:t>
            </a:r>
          </a:p>
        </p:txBody>
      </p:sp>
      <p:sp>
        <p:nvSpPr>
          <p:cNvPr id="278" name="Rectangle 277"/>
          <p:cNvSpPr/>
          <p:nvPr/>
        </p:nvSpPr>
        <p:spPr>
          <a:xfrm>
            <a:off x="6565391" y="3767328"/>
            <a:ext cx="2148840" cy="475488"/>
          </a:xfrm>
          <a:prstGeom prst="rect">
            <a:avLst/>
          </a:prstGeom>
          <a:solidFill>
            <a:srgbClr val="FFFFFF"/>
          </a:solidFill>
          <a:ln>
            <a:solidFill>
              <a:srgbClr val="CDDA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9" name="TextBox 278"/>
          <p:cNvSpPr txBox="1"/>
          <p:nvPr/>
        </p:nvSpPr>
        <p:spPr>
          <a:xfrm>
            <a:off x="6606539" y="3799332"/>
            <a:ext cx="20665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10" b="0">
                <a:solidFill>
                  <a:srgbClr val="414141"/>
                </a:solidFill>
                <a:latin typeface="Aptos"/>
              </a:defRPr>
            </a:pPr>
            <a:r>
              <a:t>Supports water and energy optimization</a:t>
            </a:r>
          </a:p>
        </p:txBody>
      </p:sp>
      <p:sp>
        <p:nvSpPr>
          <p:cNvPr id="280" name="Rectangle 279"/>
          <p:cNvSpPr/>
          <p:nvPr/>
        </p:nvSpPr>
        <p:spPr>
          <a:xfrm>
            <a:off x="8714231" y="3767328"/>
            <a:ext cx="2971800" cy="475488"/>
          </a:xfrm>
          <a:prstGeom prst="rect">
            <a:avLst/>
          </a:prstGeom>
          <a:solidFill>
            <a:srgbClr val="FFFFFF"/>
          </a:solidFill>
          <a:ln>
            <a:solidFill>
              <a:srgbClr val="CDDA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1" name="TextBox 280"/>
          <p:cNvSpPr txBox="1"/>
          <p:nvPr/>
        </p:nvSpPr>
        <p:spPr>
          <a:xfrm>
            <a:off x="8755379" y="3799332"/>
            <a:ext cx="288950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10" b="0">
                <a:solidFill>
                  <a:srgbClr val="414141"/>
                </a:solidFill>
                <a:latin typeface="Aptos"/>
              </a:defRPr>
            </a:pPr>
            <a:r>
              <a:t>Irrigation-focused; other crop-cycle decisions remain separate</a:t>
            </a:r>
            <a:br/>
            <a:r>
              <a:rPr u="sng">
                <a:solidFill>
                  <a:srgbClr val="1E5AA0"/>
                </a:solidFill>
                <a:hlinkClick r:id="rId7"/>
              </a:rPr>
              <a:t>DOI: 10.1016/j.seta.2022.102307</a:t>
            </a:r>
          </a:p>
        </p:txBody>
      </p:sp>
      <p:sp>
        <p:nvSpPr>
          <p:cNvPr id="282" name="Rectangle 281"/>
          <p:cNvSpPr/>
          <p:nvPr/>
        </p:nvSpPr>
        <p:spPr>
          <a:xfrm>
            <a:off x="502920" y="4242816"/>
            <a:ext cx="438912" cy="475488"/>
          </a:xfrm>
          <a:prstGeom prst="rect">
            <a:avLst/>
          </a:prstGeom>
          <a:solidFill>
            <a:srgbClr val="F7FAF8"/>
          </a:solidFill>
          <a:ln>
            <a:solidFill>
              <a:srgbClr val="CDDA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3" name="TextBox 282"/>
          <p:cNvSpPr txBox="1"/>
          <p:nvPr/>
        </p:nvSpPr>
        <p:spPr>
          <a:xfrm>
            <a:off x="544068" y="4274820"/>
            <a:ext cx="3566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10" b="0">
                <a:solidFill>
                  <a:srgbClr val="1A2D42"/>
                </a:solidFill>
                <a:latin typeface="Aptos"/>
              </a:defRPr>
            </a:pPr>
            <a:r>
              <a:t>6</a:t>
            </a:r>
            <a:br/>
            <a:r>
              <a:t>2022</a:t>
            </a:r>
          </a:p>
        </p:txBody>
      </p:sp>
      <p:sp>
        <p:nvSpPr>
          <p:cNvPr id="284" name="Rectangle 283"/>
          <p:cNvSpPr/>
          <p:nvPr/>
        </p:nvSpPr>
        <p:spPr>
          <a:xfrm>
            <a:off x="941832" y="4242816"/>
            <a:ext cx="1234440" cy="475488"/>
          </a:xfrm>
          <a:prstGeom prst="rect">
            <a:avLst/>
          </a:prstGeom>
          <a:solidFill>
            <a:srgbClr val="F7FAF8"/>
          </a:solidFill>
          <a:ln>
            <a:solidFill>
              <a:srgbClr val="CDDA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5" name="TextBox 284"/>
          <p:cNvSpPr txBox="1"/>
          <p:nvPr/>
        </p:nvSpPr>
        <p:spPr>
          <a:xfrm>
            <a:off x="982980" y="4274820"/>
            <a:ext cx="11521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10" b="0">
                <a:solidFill>
                  <a:srgbClr val="1A2D42"/>
                </a:solidFill>
                <a:latin typeface="Aptos"/>
              </a:defRPr>
            </a:pPr>
            <a:r>
              <a:t>Raghuvanshi et al.</a:t>
            </a:r>
          </a:p>
        </p:txBody>
      </p:sp>
      <p:sp>
        <p:nvSpPr>
          <p:cNvPr id="286" name="Rectangle 285"/>
          <p:cNvSpPr/>
          <p:nvPr/>
        </p:nvSpPr>
        <p:spPr>
          <a:xfrm>
            <a:off x="2176272" y="4242816"/>
            <a:ext cx="2514600" cy="475488"/>
          </a:xfrm>
          <a:prstGeom prst="rect">
            <a:avLst/>
          </a:prstGeom>
          <a:solidFill>
            <a:srgbClr val="F7FAF8"/>
          </a:solidFill>
          <a:ln>
            <a:solidFill>
              <a:srgbClr val="CDDA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7" name="TextBox 286"/>
          <p:cNvSpPr txBox="1"/>
          <p:nvPr/>
        </p:nvSpPr>
        <p:spPr>
          <a:xfrm>
            <a:off x="2217420" y="4274820"/>
            <a:ext cx="243230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1A2D42"/>
                </a:solidFill>
                <a:latin typeface="Aptos"/>
              </a:defRPr>
            </a:pPr>
            <a:r>
              <a:t>Intrusion Detection for IoT-Enabled Smart Irrigation in Smart Farming</a:t>
            </a:r>
          </a:p>
        </p:txBody>
      </p:sp>
      <p:sp>
        <p:nvSpPr>
          <p:cNvPr id="288" name="Rectangle 287"/>
          <p:cNvSpPr/>
          <p:nvPr/>
        </p:nvSpPr>
        <p:spPr>
          <a:xfrm>
            <a:off x="4690872" y="4242816"/>
            <a:ext cx="1874519" cy="475488"/>
          </a:xfrm>
          <a:prstGeom prst="rect">
            <a:avLst/>
          </a:prstGeom>
          <a:solidFill>
            <a:srgbClr val="F7FAF8"/>
          </a:solidFill>
          <a:ln>
            <a:solidFill>
              <a:srgbClr val="CDDA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9" name="TextBox 288"/>
          <p:cNvSpPr txBox="1"/>
          <p:nvPr/>
        </p:nvSpPr>
        <p:spPr>
          <a:xfrm>
            <a:off x="4732020" y="4274820"/>
            <a:ext cx="1792223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10" b="0">
                <a:solidFill>
                  <a:srgbClr val="414141"/>
                </a:solidFill>
                <a:latin typeface="Aptos"/>
              </a:defRPr>
            </a:pPr>
            <a:r>
              <a:t>ML-based intrusion detection</a:t>
            </a:r>
          </a:p>
        </p:txBody>
      </p:sp>
      <p:sp>
        <p:nvSpPr>
          <p:cNvPr id="290" name="Rectangle 289"/>
          <p:cNvSpPr/>
          <p:nvPr/>
        </p:nvSpPr>
        <p:spPr>
          <a:xfrm>
            <a:off x="6565391" y="4242816"/>
            <a:ext cx="2148840" cy="475488"/>
          </a:xfrm>
          <a:prstGeom prst="rect">
            <a:avLst/>
          </a:prstGeom>
          <a:solidFill>
            <a:srgbClr val="F7FAF8"/>
          </a:solidFill>
          <a:ln>
            <a:solidFill>
              <a:srgbClr val="CDDA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1" name="TextBox 290"/>
          <p:cNvSpPr txBox="1"/>
          <p:nvPr/>
        </p:nvSpPr>
        <p:spPr>
          <a:xfrm>
            <a:off x="6606539" y="4274820"/>
            <a:ext cx="20665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10" b="0">
                <a:solidFill>
                  <a:srgbClr val="414141"/>
                </a:solidFill>
                <a:latin typeface="Aptos"/>
              </a:defRPr>
            </a:pPr>
            <a:r>
              <a:t>Addresses security risks in smart irrigation</a:t>
            </a:r>
          </a:p>
        </p:txBody>
      </p:sp>
      <p:sp>
        <p:nvSpPr>
          <p:cNvPr id="292" name="Rectangle 291"/>
          <p:cNvSpPr/>
          <p:nvPr/>
        </p:nvSpPr>
        <p:spPr>
          <a:xfrm>
            <a:off x="8714231" y="4242816"/>
            <a:ext cx="2971800" cy="475488"/>
          </a:xfrm>
          <a:prstGeom prst="rect">
            <a:avLst/>
          </a:prstGeom>
          <a:solidFill>
            <a:srgbClr val="F7FAF8"/>
          </a:solidFill>
          <a:ln>
            <a:solidFill>
              <a:srgbClr val="CDDA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3" name="TextBox 292"/>
          <p:cNvSpPr txBox="1"/>
          <p:nvPr/>
        </p:nvSpPr>
        <p:spPr>
          <a:xfrm>
            <a:off x="8755379" y="4274820"/>
            <a:ext cx="288950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10" b="0">
                <a:solidFill>
                  <a:srgbClr val="414141"/>
                </a:solidFill>
                <a:latin typeface="Aptos"/>
              </a:defRPr>
            </a:pPr>
            <a:r>
              <a:t>Security-focused rather than end-to-end agricultural support</a:t>
            </a:r>
            <a:br/>
            <a:r>
              <a:rPr u="sng">
                <a:solidFill>
                  <a:srgbClr val="1E5AA0"/>
                </a:solidFill>
                <a:hlinkClick r:id="rId8"/>
              </a:rPr>
              <a:t>DOI: 10.1155/2022/3955514</a:t>
            </a:r>
          </a:p>
        </p:txBody>
      </p:sp>
      <p:sp>
        <p:nvSpPr>
          <p:cNvPr id="294" name="Rectangle 293"/>
          <p:cNvSpPr/>
          <p:nvPr/>
        </p:nvSpPr>
        <p:spPr>
          <a:xfrm>
            <a:off x="502920" y="4718304"/>
            <a:ext cx="438912" cy="475488"/>
          </a:xfrm>
          <a:prstGeom prst="rect">
            <a:avLst/>
          </a:prstGeom>
          <a:solidFill>
            <a:srgbClr val="FFFFFF"/>
          </a:solidFill>
          <a:ln>
            <a:solidFill>
              <a:srgbClr val="CDDA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5" name="TextBox 294"/>
          <p:cNvSpPr txBox="1"/>
          <p:nvPr/>
        </p:nvSpPr>
        <p:spPr>
          <a:xfrm>
            <a:off x="544068" y="4750308"/>
            <a:ext cx="3566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10" b="0">
                <a:solidFill>
                  <a:srgbClr val="1A2D42"/>
                </a:solidFill>
                <a:latin typeface="Aptos"/>
              </a:defRPr>
            </a:pPr>
            <a:r>
              <a:t>7</a:t>
            </a:r>
            <a:br/>
            <a:r>
              <a:t>2023</a:t>
            </a:r>
          </a:p>
        </p:txBody>
      </p:sp>
      <p:sp>
        <p:nvSpPr>
          <p:cNvPr id="296" name="Rectangle 295"/>
          <p:cNvSpPr/>
          <p:nvPr/>
        </p:nvSpPr>
        <p:spPr>
          <a:xfrm>
            <a:off x="941832" y="4718304"/>
            <a:ext cx="1234440" cy="475488"/>
          </a:xfrm>
          <a:prstGeom prst="rect">
            <a:avLst/>
          </a:prstGeom>
          <a:solidFill>
            <a:srgbClr val="FFFFFF"/>
          </a:solidFill>
          <a:ln>
            <a:solidFill>
              <a:srgbClr val="CDDA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7" name="TextBox 296"/>
          <p:cNvSpPr txBox="1"/>
          <p:nvPr/>
        </p:nvSpPr>
        <p:spPr>
          <a:xfrm>
            <a:off x="982980" y="4750308"/>
            <a:ext cx="11521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10" b="0">
                <a:solidFill>
                  <a:srgbClr val="1A2D42"/>
                </a:solidFill>
                <a:latin typeface="Aptos"/>
              </a:defRPr>
            </a:pPr>
            <a:r>
              <a:t>Anoop E.G. &amp; Bala</a:t>
            </a:r>
          </a:p>
        </p:txBody>
      </p:sp>
      <p:sp>
        <p:nvSpPr>
          <p:cNvPr id="298" name="Rectangle 297"/>
          <p:cNvSpPr/>
          <p:nvPr/>
        </p:nvSpPr>
        <p:spPr>
          <a:xfrm>
            <a:off x="2176272" y="4718304"/>
            <a:ext cx="2514600" cy="475488"/>
          </a:xfrm>
          <a:prstGeom prst="rect">
            <a:avLst/>
          </a:prstGeom>
          <a:solidFill>
            <a:srgbClr val="FFFFFF"/>
          </a:solidFill>
          <a:ln>
            <a:solidFill>
              <a:srgbClr val="CDDA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9" name="TextBox 298"/>
          <p:cNvSpPr txBox="1"/>
          <p:nvPr/>
        </p:nvSpPr>
        <p:spPr>
          <a:xfrm>
            <a:off x="2217420" y="4750308"/>
            <a:ext cx="243230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1A2D42"/>
                </a:solidFill>
                <a:latin typeface="Aptos"/>
              </a:defRPr>
            </a:pPr>
            <a:r>
              <a:t>IoT and ML-based automatic irrigation system for smart agriculture</a:t>
            </a:r>
          </a:p>
        </p:txBody>
      </p:sp>
      <p:sp>
        <p:nvSpPr>
          <p:cNvPr id="300" name="Rectangle 299"/>
          <p:cNvSpPr/>
          <p:nvPr/>
        </p:nvSpPr>
        <p:spPr>
          <a:xfrm>
            <a:off x="4690872" y="4718304"/>
            <a:ext cx="1874519" cy="475488"/>
          </a:xfrm>
          <a:prstGeom prst="rect">
            <a:avLst/>
          </a:prstGeom>
          <a:solidFill>
            <a:srgbClr val="FFFFFF"/>
          </a:solidFill>
          <a:ln>
            <a:solidFill>
              <a:srgbClr val="CDDA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1" name="TextBox 300"/>
          <p:cNvSpPr txBox="1"/>
          <p:nvPr/>
        </p:nvSpPr>
        <p:spPr>
          <a:xfrm>
            <a:off x="4732020" y="4750308"/>
            <a:ext cx="1792223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10" b="0">
                <a:solidFill>
                  <a:srgbClr val="414141"/>
                </a:solidFill>
                <a:latin typeface="Aptos"/>
              </a:defRPr>
            </a:pPr>
            <a:r>
              <a:t>IoT / ML / cloud</a:t>
            </a:r>
          </a:p>
        </p:txBody>
      </p:sp>
      <p:sp>
        <p:nvSpPr>
          <p:cNvPr id="302" name="Rectangle 301"/>
          <p:cNvSpPr/>
          <p:nvPr/>
        </p:nvSpPr>
        <p:spPr>
          <a:xfrm>
            <a:off x="6565391" y="4718304"/>
            <a:ext cx="2148840" cy="475488"/>
          </a:xfrm>
          <a:prstGeom prst="rect">
            <a:avLst/>
          </a:prstGeom>
          <a:solidFill>
            <a:srgbClr val="FFFFFF"/>
          </a:solidFill>
          <a:ln>
            <a:solidFill>
              <a:srgbClr val="CDDA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3" name="TextBox 302"/>
          <p:cNvSpPr txBox="1"/>
          <p:nvPr/>
        </p:nvSpPr>
        <p:spPr>
          <a:xfrm>
            <a:off x="6606539" y="4750308"/>
            <a:ext cx="20665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10" b="0">
                <a:solidFill>
                  <a:srgbClr val="414141"/>
                </a:solidFill>
                <a:latin typeface="Aptos"/>
              </a:defRPr>
            </a:pPr>
            <a:r>
              <a:t>Summarizes smart-irrigation architectures</a:t>
            </a:r>
          </a:p>
        </p:txBody>
      </p:sp>
      <p:sp>
        <p:nvSpPr>
          <p:cNvPr id="304" name="Rectangle 303"/>
          <p:cNvSpPr/>
          <p:nvPr/>
        </p:nvSpPr>
        <p:spPr>
          <a:xfrm>
            <a:off x="8714231" y="4718304"/>
            <a:ext cx="2971800" cy="475488"/>
          </a:xfrm>
          <a:prstGeom prst="rect">
            <a:avLst/>
          </a:prstGeom>
          <a:solidFill>
            <a:srgbClr val="FFFFFF"/>
          </a:solidFill>
          <a:ln>
            <a:solidFill>
              <a:srgbClr val="CDDA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5" name="TextBox 304"/>
          <p:cNvSpPr txBox="1"/>
          <p:nvPr/>
        </p:nvSpPr>
        <p:spPr>
          <a:xfrm>
            <a:off x="8755379" y="4750308"/>
            <a:ext cx="288950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10" b="0">
                <a:solidFill>
                  <a:srgbClr val="414141"/>
                </a:solidFill>
                <a:latin typeface="Aptos"/>
              </a:defRPr>
            </a:pPr>
            <a:r>
              <a:t>Irrigation remains one component; broader integration is needed</a:t>
            </a:r>
            <a:br/>
            <a:r>
              <a:rPr u="sng">
                <a:solidFill>
                  <a:srgbClr val="1E5AA0"/>
                </a:solidFill>
                <a:hlinkClick r:id="rId9"/>
              </a:rPr>
              <a:t>DOI: 10.1002/agj2.21344</a:t>
            </a:r>
          </a:p>
        </p:txBody>
      </p:sp>
      <p:sp>
        <p:nvSpPr>
          <p:cNvPr id="306" name="Rectangle 305"/>
          <p:cNvSpPr/>
          <p:nvPr/>
        </p:nvSpPr>
        <p:spPr>
          <a:xfrm>
            <a:off x="502920" y="5193792"/>
            <a:ext cx="438912" cy="475488"/>
          </a:xfrm>
          <a:prstGeom prst="rect">
            <a:avLst/>
          </a:prstGeom>
          <a:solidFill>
            <a:srgbClr val="F7FAF8"/>
          </a:solidFill>
          <a:ln>
            <a:solidFill>
              <a:srgbClr val="CDDA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7" name="TextBox 306"/>
          <p:cNvSpPr txBox="1"/>
          <p:nvPr/>
        </p:nvSpPr>
        <p:spPr>
          <a:xfrm>
            <a:off x="544068" y="5225796"/>
            <a:ext cx="3566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10" b="0">
                <a:solidFill>
                  <a:srgbClr val="1A2D42"/>
                </a:solidFill>
                <a:latin typeface="Aptos"/>
              </a:defRPr>
            </a:pPr>
            <a:r>
              <a:t>8</a:t>
            </a:r>
            <a:br/>
            <a:r>
              <a:t>2021</a:t>
            </a:r>
          </a:p>
        </p:txBody>
      </p:sp>
      <p:sp>
        <p:nvSpPr>
          <p:cNvPr id="308" name="Rectangle 307"/>
          <p:cNvSpPr/>
          <p:nvPr/>
        </p:nvSpPr>
        <p:spPr>
          <a:xfrm>
            <a:off x="941832" y="5193792"/>
            <a:ext cx="1234440" cy="475488"/>
          </a:xfrm>
          <a:prstGeom prst="rect">
            <a:avLst/>
          </a:prstGeom>
          <a:solidFill>
            <a:srgbClr val="F7FAF8"/>
          </a:solidFill>
          <a:ln>
            <a:solidFill>
              <a:srgbClr val="CDDA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9" name="TextBox 308"/>
          <p:cNvSpPr txBox="1"/>
          <p:nvPr/>
        </p:nvSpPr>
        <p:spPr>
          <a:xfrm>
            <a:off x="982980" y="5225796"/>
            <a:ext cx="11521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10" b="0">
                <a:solidFill>
                  <a:srgbClr val="1A2D42"/>
                </a:solidFill>
                <a:latin typeface="Aptos"/>
              </a:defRPr>
            </a:pPr>
            <a:r>
              <a:t>Mahto et al.</a:t>
            </a:r>
          </a:p>
        </p:txBody>
      </p:sp>
      <p:sp>
        <p:nvSpPr>
          <p:cNvPr id="310" name="Rectangle 309"/>
          <p:cNvSpPr/>
          <p:nvPr/>
        </p:nvSpPr>
        <p:spPr>
          <a:xfrm>
            <a:off x="2176272" y="5193792"/>
            <a:ext cx="2514600" cy="475488"/>
          </a:xfrm>
          <a:prstGeom prst="rect">
            <a:avLst/>
          </a:prstGeom>
          <a:solidFill>
            <a:srgbClr val="F7FAF8"/>
          </a:solidFill>
          <a:ln>
            <a:solidFill>
              <a:srgbClr val="CDDA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1" name="TextBox 310"/>
          <p:cNvSpPr txBox="1"/>
          <p:nvPr/>
        </p:nvSpPr>
        <p:spPr>
          <a:xfrm>
            <a:off x="2217420" y="5225796"/>
            <a:ext cx="243230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1A2D42"/>
                </a:solidFill>
                <a:latin typeface="Aptos"/>
              </a:defRPr>
            </a:pPr>
            <a:r>
              <a:t>Short-Term Forecasting of Agriculture Commodities in Indian Market Using ANN</a:t>
            </a:r>
          </a:p>
        </p:txBody>
      </p:sp>
      <p:sp>
        <p:nvSpPr>
          <p:cNvPr id="312" name="Rectangle 311"/>
          <p:cNvSpPr/>
          <p:nvPr/>
        </p:nvSpPr>
        <p:spPr>
          <a:xfrm>
            <a:off x="4690872" y="5193792"/>
            <a:ext cx="1874519" cy="475488"/>
          </a:xfrm>
          <a:prstGeom prst="rect">
            <a:avLst/>
          </a:prstGeom>
          <a:solidFill>
            <a:srgbClr val="F7FAF8"/>
          </a:solidFill>
          <a:ln>
            <a:solidFill>
              <a:srgbClr val="CDDA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3" name="TextBox 312"/>
          <p:cNvSpPr txBox="1"/>
          <p:nvPr/>
        </p:nvSpPr>
        <p:spPr>
          <a:xfrm>
            <a:off x="4732020" y="5225796"/>
            <a:ext cx="1792223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10" b="0">
                <a:solidFill>
                  <a:srgbClr val="414141"/>
                </a:solidFill>
                <a:latin typeface="Aptos"/>
              </a:defRPr>
            </a:pPr>
            <a:r>
              <a:t>Artificial Neural Network</a:t>
            </a:r>
          </a:p>
        </p:txBody>
      </p:sp>
      <p:sp>
        <p:nvSpPr>
          <p:cNvPr id="314" name="Rectangle 313"/>
          <p:cNvSpPr/>
          <p:nvPr/>
        </p:nvSpPr>
        <p:spPr>
          <a:xfrm>
            <a:off x="6565391" y="5193792"/>
            <a:ext cx="2148840" cy="475488"/>
          </a:xfrm>
          <a:prstGeom prst="rect">
            <a:avLst/>
          </a:prstGeom>
          <a:solidFill>
            <a:srgbClr val="F7FAF8"/>
          </a:solidFill>
          <a:ln>
            <a:solidFill>
              <a:srgbClr val="CDDA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5" name="TextBox 314"/>
          <p:cNvSpPr txBox="1"/>
          <p:nvPr/>
        </p:nvSpPr>
        <p:spPr>
          <a:xfrm>
            <a:off x="6606539" y="5225796"/>
            <a:ext cx="20665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10" b="0">
                <a:solidFill>
                  <a:srgbClr val="414141"/>
                </a:solidFill>
                <a:latin typeface="Aptos"/>
              </a:defRPr>
            </a:pPr>
            <a:r>
              <a:t>Supports short-term price forecasting</a:t>
            </a:r>
          </a:p>
        </p:txBody>
      </p:sp>
      <p:sp>
        <p:nvSpPr>
          <p:cNvPr id="316" name="Rectangle 315"/>
          <p:cNvSpPr/>
          <p:nvPr/>
        </p:nvSpPr>
        <p:spPr>
          <a:xfrm>
            <a:off x="8714231" y="5193792"/>
            <a:ext cx="2971800" cy="475488"/>
          </a:xfrm>
          <a:prstGeom prst="rect">
            <a:avLst/>
          </a:prstGeom>
          <a:solidFill>
            <a:srgbClr val="F7FAF8"/>
          </a:solidFill>
          <a:ln>
            <a:solidFill>
              <a:srgbClr val="CDDA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7" name="TextBox 316"/>
          <p:cNvSpPr txBox="1"/>
          <p:nvPr/>
        </p:nvSpPr>
        <p:spPr>
          <a:xfrm>
            <a:off x="8755379" y="5225796"/>
            <a:ext cx="288950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10" b="0">
                <a:solidFill>
                  <a:srgbClr val="414141"/>
                </a:solidFill>
                <a:latin typeface="Aptos"/>
              </a:defRPr>
            </a:pPr>
            <a:r>
              <a:t>Market forecasting is separated from crop production and health decisions</a:t>
            </a:r>
            <a:br/>
            <a:r>
              <a:rPr u="sng">
                <a:solidFill>
                  <a:srgbClr val="1E5AA0"/>
                </a:solidFill>
                <a:hlinkClick r:id="rId10"/>
              </a:rPr>
              <a:t>DOI: 10.1155/2021/9939906</a:t>
            </a:r>
          </a:p>
        </p:txBody>
      </p:sp>
      <p:sp>
        <p:nvSpPr>
          <p:cNvPr id="318" name="Rectangle 317"/>
          <p:cNvSpPr/>
          <p:nvPr/>
        </p:nvSpPr>
        <p:spPr>
          <a:xfrm>
            <a:off x="502920" y="5669280"/>
            <a:ext cx="438912" cy="475488"/>
          </a:xfrm>
          <a:prstGeom prst="rect">
            <a:avLst/>
          </a:prstGeom>
          <a:solidFill>
            <a:srgbClr val="FFFFFF"/>
          </a:solidFill>
          <a:ln>
            <a:solidFill>
              <a:srgbClr val="CDDA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9" name="TextBox 318"/>
          <p:cNvSpPr txBox="1"/>
          <p:nvPr/>
        </p:nvSpPr>
        <p:spPr>
          <a:xfrm>
            <a:off x="544068" y="5701284"/>
            <a:ext cx="3566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10" b="0">
                <a:solidFill>
                  <a:srgbClr val="1A2D42"/>
                </a:solidFill>
                <a:latin typeface="Aptos"/>
              </a:defRPr>
            </a:pPr>
            <a:r>
              <a:t>9</a:t>
            </a:r>
            <a:br/>
            <a:r>
              <a:t>2021</a:t>
            </a:r>
          </a:p>
        </p:txBody>
      </p:sp>
      <p:sp>
        <p:nvSpPr>
          <p:cNvPr id="320" name="Rectangle 319"/>
          <p:cNvSpPr/>
          <p:nvPr/>
        </p:nvSpPr>
        <p:spPr>
          <a:xfrm>
            <a:off x="941832" y="5669280"/>
            <a:ext cx="1234440" cy="475488"/>
          </a:xfrm>
          <a:prstGeom prst="rect">
            <a:avLst/>
          </a:prstGeom>
          <a:solidFill>
            <a:srgbClr val="FFFFFF"/>
          </a:solidFill>
          <a:ln>
            <a:solidFill>
              <a:srgbClr val="CDDA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1" name="TextBox 320"/>
          <p:cNvSpPr txBox="1"/>
          <p:nvPr/>
        </p:nvSpPr>
        <p:spPr>
          <a:xfrm>
            <a:off x="982980" y="5701284"/>
            <a:ext cx="11521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10" b="0">
                <a:solidFill>
                  <a:srgbClr val="1A2D42"/>
                </a:solidFill>
                <a:latin typeface="Aptos"/>
              </a:defRPr>
            </a:pPr>
            <a:r>
              <a:t>Manogna &amp; Mishra</a:t>
            </a:r>
          </a:p>
        </p:txBody>
      </p:sp>
      <p:sp>
        <p:nvSpPr>
          <p:cNvPr id="322" name="Rectangle 321"/>
          <p:cNvSpPr/>
          <p:nvPr/>
        </p:nvSpPr>
        <p:spPr>
          <a:xfrm>
            <a:off x="2176272" y="5669280"/>
            <a:ext cx="2514600" cy="475488"/>
          </a:xfrm>
          <a:prstGeom prst="rect">
            <a:avLst/>
          </a:prstGeom>
          <a:solidFill>
            <a:srgbClr val="FFFFFF"/>
          </a:solidFill>
          <a:ln>
            <a:solidFill>
              <a:srgbClr val="CDDA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3" name="TextBox 322"/>
          <p:cNvSpPr txBox="1"/>
          <p:nvPr/>
        </p:nvSpPr>
        <p:spPr>
          <a:xfrm>
            <a:off x="2217420" y="5701284"/>
            <a:ext cx="243230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1A2D42"/>
                </a:solidFill>
                <a:latin typeface="Aptos"/>
              </a:defRPr>
            </a:pPr>
            <a:r>
              <a:t>Forecasting spot prices of agricultural commodities in India using deep learning</a:t>
            </a:r>
          </a:p>
        </p:txBody>
      </p:sp>
      <p:sp>
        <p:nvSpPr>
          <p:cNvPr id="324" name="Rectangle 323"/>
          <p:cNvSpPr/>
          <p:nvPr/>
        </p:nvSpPr>
        <p:spPr>
          <a:xfrm>
            <a:off x="4690872" y="5669280"/>
            <a:ext cx="1874519" cy="475488"/>
          </a:xfrm>
          <a:prstGeom prst="rect">
            <a:avLst/>
          </a:prstGeom>
          <a:solidFill>
            <a:srgbClr val="FFFFFF"/>
          </a:solidFill>
          <a:ln>
            <a:solidFill>
              <a:srgbClr val="CDDA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5" name="TextBox 324"/>
          <p:cNvSpPr txBox="1"/>
          <p:nvPr/>
        </p:nvSpPr>
        <p:spPr>
          <a:xfrm>
            <a:off x="4732020" y="5701284"/>
            <a:ext cx="1792223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10" b="0">
                <a:solidFill>
                  <a:srgbClr val="414141"/>
                </a:solidFill>
                <a:latin typeface="Aptos"/>
              </a:defRPr>
            </a:pPr>
            <a:r>
              <a:t>TDNN / LSTM / ARIMA</a:t>
            </a:r>
          </a:p>
        </p:txBody>
      </p:sp>
      <p:sp>
        <p:nvSpPr>
          <p:cNvPr id="326" name="Rectangle 325"/>
          <p:cNvSpPr/>
          <p:nvPr/>
        </p:nvSpPr>
        <p:spPr>
          <a:xfrm>
            <a:off x="6565391" y="5669280"/>
            <a:ext cx="2148840" cy="475488"/>
          </a:xfrm>
          <a:prstGeom prst="rect">
            <a:avLst/>
          </a:prstGeom>
          <a:solidFill>
            <a:srgbClr val="FFFFFF"/>
          </a:solidFill>
          <a:ln>
            <a:solidFill>
              <a:srgbClr val="CDDA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7" name="TextBox 326"/>
          <p:cNvSpPr txBox="1"/>
          <p:nvPr/>
        </p:nvSpPr>
        <p:spPr>
          <a:xfrm>
            <a:off x="6606539" y="5701284"/>
            <a:ext cx="20665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10" b="0">
                <a:solidFill>
                  <a:srgbClr val="414141"/>
                </a:solidFill>
                <a:latin typeface="Aptos"/>
              </a:defRPr>
            </a:pPr>
            <a:r>
              <a:t>LSTM captures price movement effectively</a:t>
            </a:r>
          </a:p>
        </p:txBody>
      </p:sp>
      <p:sp>
        <p:nvSpPr>
          <p:cNvPr id="328" name="Rectangle 327"/>
          <p:cNvSpPr/>
          <p:nvPr/>
        </p:nvSpPr>
        <p:spPr>
          <a:xfrm>
            <a:off x="8714231" y="5669280"/>
            <a:ext cx="2971800" cy="475488"/>
          </a:xfrm>
          <a:prstGeom prst="rect">
            <a:avLst/>
          </a:prstGeom>
          <a:solidFill>
            <a:srgbClr val="FFFFFF"/>
          </a:solidFill>
          <a:ln>
            <a:solidFill>
              <a:srgbClr val="CDDA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9" name="TextBox 328"/>
          <p:cNvSpPr txBox="1"/>
          <p:nvPr/>
        </p:nvSpPr>
        <p:spPr>
          <a:xfrm>
            <a:off x="8755379" y="5701284"/>
            <a:ext cx="288950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10" b="0">
                <a:solidFill>
                  <a:srgbClr val="414141"/>
                </a:solidFill>
                <a:latin typeface="Aptos"/>
              </a:defRPr>
            </a:pPr>
            <a:r>
              <a:t>Price-focused; not connected to soil, health, yield or resource decisions</a:t>
            </a:r>
            <a:br/>
            <a:r>
              <a:rPr u="sng">
                <a:solidFill>
                  <a:srgbClr val="1E5AA0"/>
                </a:solidFill>
                <a:hlinkClick r:id="rId11"/>
              </a:rPr>
              <a:t>DOI: 10.1002/isaf.1487</a:t>
            </a:r>
          </a:p>
        </p:txBody>
      </p:sp>
      <p:sp>
        <p:nvSpPr>
          <p:cNvPr id="330" name="TextBox 329"/>
          <p:cNvSpPr txBox="1"/>
          <p:nvPr/>
        </p:nvSpPr>
        <p:spPr>
          <a:xfrm>
            <a:off x="548640" y="6144768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 i="1">
                <a:solidFill>
                  <a:srgbClr val="737373"/>
                </a:solidFill>
              </a:defRPr>
            </a:pPr>
            <a:r>
              <a:t>Compact table: paper title, methodology, key finding, research gap and DOI are shown for quick review.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klh_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325880" cy="598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38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691640" y="256032"/>
            <a:ext cx="9966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A2D42"/>
                </a:solidFill>
                <a:latin typeface="Aptos Display"/>
              </a:defRPr>
            </a:pPr>
            <a:r>
              <a:t>Research Gap Identification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058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414141"/>
                </a:solidFill>
              </a:defRPr>
            </a:pPr>
            <a:r>
              <a:t>The literature shows strong progress in individual smart-agriculture tasks, but the major opportunity is to integrate these capabilities into one end-to-end decision-support system.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783080"/>
            <a:ext cx="548640" cy="566928"/>
          </a:xfrm>
          <a:prstGeom prst="rect">
            <a:avLst/>
          </a:prstGeom>
          <a:solidFill>
            <a:srgbClr val="12523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21792" y="1837943"/>
            <a:ext cx="493776" cy="493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S.No.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1783080"/>
            <a:ext cx="1417320" cy="566928"/>
          </a:xfrm>
          <a:prstGeom prst="rect">
            <a:avLst/>
          </a:prstGeom>
          <a:solidFill>
            <a:srgbClr val="12523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70432" y="1837943"/>
            <a:ext cx="1362456" cy="493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Research Area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60320" y="1783080"/>
            <a:ext cx="1600200" cy="566928"/>
          </a:xfrm>
          <a:prstGeom prst="rect">
            <a:avLst/>
          </a:prstGeom>
          <a:solidFill>
            <a:srgbClr val="12523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587751" y="1837943"/>
            <a:ext cx="1545336" cy="493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Methodology / Model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60520" y="1783080"/>
            <a:ext cx="2240280" cy="566928"/>
          </a:xfrm>
          <a:prstGeom prst="rect">
            <a:avLst/>
          </a:prstGeom>
          <a:solidFill>
            <a:srgbClr val="12523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187952" y="1837943"/>
            <a:ext cx="2185416" cy="493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Key Findings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1783080"/>
            <a:ext cx="4800600" cy="566928"/>
          </a:xfrm>
          <a:prstGeom prst="rect">
            <a:avLst/>
          </a:prstGeom>
          <a:solidFill>
            <a:srgbClr val="12523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28232" y="1837943"/>
            <a:ext cx="4745736" cy="493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Research Gap Identified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2350008"/>
            <a:ext cx="54864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2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0936" y="2382012"/>
            <a:ext cx="475488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10" b="1">
                <a:solidFill>
                  <a:srgbClr val="1A2D42"/>
                </a:solidFill>
              </a:defRPr>
            </a:pPr>
            <a:r>
              <a:t>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43000" y="2350008"/>
            <a:ext cx="141732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2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179576" y="2382012"/>
            <a:ext cx="1344168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10" b="1">
                <a:solidFill>
                  <a:srgbClr val="1A2D42"/>
                </a:solidFill>
              </a:defRPr>
            </a:pPr>
            <a:r>
              <a:t>Crop recommendation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60320" y="2350008"/>
            <a:ext cx="160020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2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596896" y="2382012"/>
            <a:ext cx="1527048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10" b="0">
                <a:solidFill>
                  <a:srgbClr val="414141"/>
                </a:solidFill>
              </a:defRPr>
            </a:pPr>
            <a:r>
              <a:t>RF / KNN / SVM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60520" y="2350008"/>
            <a:ext cx="224028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2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197096" y="2382012"/>
            <a:ext cx="2167128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10" b="0">
                <a:solidFill>
                  <a:srgbClr val="414141"/>
                </a:solidFill>
              </a:defRPr>
            </a:pPr>
            <a:r>
              <a:t>Strong crop suitability prediction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2350008"/>
            <a:ext cx="480060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2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37376" y="2382012"/>
            <a:ext cx="4727448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10" b="0">
                <a:solidFill>
                  <a:srgbClr val="414141"/>
                </a:solidFill>
              </a:defRPr>
            </a:pPr>
            <a:r>
              <a:t>Mostly recommendation-only; limited linkage to disease, yield, irrigation and market.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" y="2971800"/>
            <a:ext cx="548640" cy="621792"/>
          </a:xfrm>
          <a:prstGeom prst="rect">
            <a:avLst/>
          </a:prstGeom>
          <a:solidFill>
            <a:srgbClr val="F7FAF8"/>
          </a:solidFill>
          <a:ln>
            <a:solidFill>
              <a:srgbClr val="D2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30936" y="3003804"/>
            <a:ext cx="475488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10" b="1">
                <a:solidFill>
                  <a:srgbClr val="1A2D42"/>
                </a:solidFill>
              </a:defRPr>
            </a:pPr>
            <a:r>
              <a:t>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2971800"/>
            <a:ext cx="1417320" cy="621792"/>
          </a:xfrm>
          <a:prstGeom prst="rect">
            <a:avLst/>
          </a:prstGeom>
          <a:solidFill>
            <a:srgbClr val="F7FAF8"/>
          </a:solidFill>
          <a:ln>
            <a:solidFill>
              <a:srgbClr val="D2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179576" y="3003804"/>
            <a:ext cx="1344168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10" b="1">
                <a:solidFill>
                  <a:srgbClr val="1A2D42"/>
                </a:solidFill>
              </a:defRPr>
            </a:pPr>
            <a:r>
              <a:t>Disease &amp; pest detection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60320" y="2971800"/>
            <a:ext cx="1600200" cy="621792"/>
          </a:xfrm>
          <a:prstGeom prst="rect">
            <a:avLst/>
          </a:prstGeom>
          <a:solidFill>
            <a:srgbClr val="F7FAF8"/>
          </a:solidFill>
          <a:ln>
            <a:solidFill>
              <a:srgbClr val="D2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596896" y="3003804"/>
            <a:ext cx="1527048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10" b="0">
                <a:solidFill>
                  <a:srgbClr val="414141"/>
                </a:solidFill>
              </a:defRPr>
            </a:pPr>
            <a:r>
              <a:t>CNN / EfficientNet / segmentation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60520" y="2971800"/>
            <a:ext cx="2240280" cy="621792"/>
          </a:xfrm>
          <a:prstGeom prst="rect">
            <a:avLst/>
          </a:prstGeom>
          <a:solidFill>
            <a:srgbClr val="F7FAF8"/>
          </a:solidFill>
          <a:ln>
            <a:solidFill>
              <a:srgbClr val="D2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197096" y="3003804"/>
            <a:ext cx="2167128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10" b="0">
                <a:solidFill>
                  <a:srgbClr val="414141"/>
                </a:solidFill>
              </a:defRPr>
            </a:pPr>
            <a:r>
              <a:t>High image-classification performance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0" y="2971800"/>
            <a:ext cx="4800600" cy="621792"/>
          </a:xfrm>
          <a:prstGeom prst="rect">
            <a:avLst/>
          </a:prstGeom>
          <a:solidFill>
            <a:srgbClr val="F7FAF8"/>
          </a:solidFill>
          <a:ln>
            <a:solidFill>
              <a:srgbClr val="D2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37376" y="3003804"/>
            <a:ext cx="4727448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10" b="0">
                <a:solidFill>
                  <a:srgbClr val="414141"/>
                </a:solidFill>
              </a:defRPr>
            </a:pPr>
            <a:r>
              <a:t>Controlled or crop-specific datasets can reduce real-field generalization.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94360" y="3593591"/>
            <a:ext cx="54864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2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30936" y="3625596"/>
            <a:ext cx="475488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10" b="1">
                <a:solidFill>
                  <a:srgbClr val="1A2D42"/>
                </a:solidFill>
              </a:defRPr>
            </a:pPr>
            <a:r>
              <a:t>3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143000" y="3593591"/>
            <a:ext cx="141732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2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179576" y="3625596"/>
            <a:ext cx="1344168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10" b="1">
                <a:solidFill>
                  <a:srgbClr val="1A2D42"/>
                </a:solidFill>
              </a:defRPr>
            </a:pPr>
            <a:r>
              <a:t>Yield prediction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560320" y="3593591"/>
            <a:ext cx="160020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2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2596896" y="3625596"/>
            <a:ext cx="1527048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10" b="0">
                <a:solidFill>
                  <a:srgbClr val="414141"/>
                </a:solidFill>
              </a:defRPr>
            </a:pPr>
            <a:r>
              <a:t>LSTM / CNN / GRNN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160520" y="3593591"/>
            <a:ext cx="224028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2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197096" y="3625596"/>
            <a:ext cx="2167128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10" b="0">
                <a:solidFill>
                  <a:srgbClr val="414141"/>
                </a:solidFill>
              </a:defRPr>
            </a:pPr>
            <a:r>
              <a:t>Weather, soil and phenology improve prediction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00800" y="3593591"/>
            <a:ext cx="480060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2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437376" y="3625596"/>
            <a:ext cx="4727448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10" b="0">
                <a:solidFill>
                  <a:srgbClr val="414141"/>
                </a:solidFill>
              </a:defRPr>
            </a:pPr>
            <a:r>
              <a:t>Often crop/region specific; limited direct decision support.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94360" y="4215383"/>
            <a:ext cx="548640" cy="621792"/>
          </a:xfrm>
          <a:prstGeom prst="rect">
            <a:avLst/>
          </a:prstGeom>
          <a:solidFill>
            <a:srgbClr val="F7FAF8"/>
          </a:solidFill>
          <a:ln>
            <a:solidFill>
              <a:srgbClr val="D2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30936" y="4247388"/>
            <a:ext cx="475488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10" b="1">
                <a:solidFill>
                  <a:srgbClr val="1A2D42"/>
                </a:solidFill>
              </a:defRPr>
            </a:pPr>
            <a:r>
              <a:t>4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143000" y="4215383"/>
            <a:ext cx="1417320" cy="621792"/>
          </a:xfrm>
          <a:prstGeom prst="rect">
            <a:avLst/>
          </a:prstGeom>
          <a:solidFill>
            <a:srgbClr val="F7FAF8"/>
          </a:solidFill>
          <a:ln>
            <a:solidFill>
              <a:srgbClr val="D2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1179576" y="4247388"/>
            <a:ext cx="1344168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10" b="1">
                <a:solidFill>
                  <a:srgbClr val="1A2D42"/>
                </a:solidFill>
              </a:defRPr>
            </a:pPr>
            <a:r>
              <a:t>Smart irrigation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560320" y="4215383"/>
            <a:ext cx="1600200" cy="621792"/>
          </a:xfrm>
          <a:prstGeom prst="rect">
            <a:avLst/>
          </a:prstGeom>
          <a:solidFill>
            <a:srgbClr val="F7FAF8"/>
          </a:solidFill>
          <a:ln>
            <a:solidFill>
              <a:srgbClr val="D2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2596896" y="4247388"/>
            <a:ext cx="1527048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10" b="0">
                <a:solidFill>
                  <a:srgbClr val="414141"/>
                </a:solidFill>
              </a:defRPr>
            </a:pPr>
            <a:r>
              <a:t>IoT + ML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160520" y="4215383"/>
            <a:ext cx="2240280" cy="621792"/>
          </a:xfrm>
          <a:prstGeom prst="rect">
            <a:avLst/>
          </a:prstGeom>
          <a:solidFill>
            <a:srgbClr val="F7FAF8"/>
          </a:solidFill>
          <a:ln>
            <a:solidFill>
              <a:srgbClr val="D2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4197096" y="4247388"/>
            <a:ext cx="2167128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10" b="0">
                <a:solidFill>
                  <a:srgbClr val="414141"/>
                </a:solidFill>
              </a:defRPr>
            </a:pPr>
            <a:r>
              <a:t>Improves water monitoring and optimization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400800" y="4215383"/>
            <a:ext cx="4800600" cy="621792"/>
          </a:xfrm>
          <a:prstGeom prst="rect">
            <a:avLst/>
          </a:prstGeom>
          <a:solidFill>
            <a:srgbClr val="F7FAF8"/>
          </a:solidFill>
          <a:ln>
            <a:solidFill>
              <a:srgbClr val="D2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437376" y="4247388"/>
            <a:ext cx="4727448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10" b="0">
                <a:solidFill>
                  <a:srgbClr val="414141"/>
                </a:solidFill>
              </a:defRPr>
            </a:pPr>
            <a:r>
              <a:t>Focused on irrigation; other crop-cycle decisions remain separate.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94360" y="4837176"/>
            <a:ext cx="54864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2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30936" y="4869180"/>
            <a:ext cx="475488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10" b="1">
                <a:solidFill>
                  <a:srgbClr val="1A2D42"/>
                </a:solidFill>
              </a:defRPr>
            </a:pPr>
            <a:r>
              <a:t>5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143000" y="4837176"/>
            <a:ext cx="141732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2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1179576" y="4869180"/>
            <a:ext cx="1344168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10" b="1">
                <a:solidFill>
                  <a:srgbClr val="1A2D42"/>
                </a:solidFill>
              </a:defRPr>
            </a:pPr>
            <a:r>
              <a:t>Market forecasting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560320" y="4837176"/>
            <a:ext cx="160020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2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2596896" y="4869180"/>
            <a:ext cx="1527048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10" b="0">
                <a:solidFill>
                  <a:srgbClr val="414141"/>
                </a:solidFill>
              </a:defRPr>
            </a:pPr>
            <a:r>
              <a:t>ANN / LSTM / TDNN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160520" y="4837176"/>
            <a:ext cx="224028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2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4197096" y="4869180"/>
            <a:ext cx="2167128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10" b="0">
                <a:solidFill>
                  <a:srgbClr val="414141"/>
                </a:solidFill>
              </a:defRPr>
            </a:pPr>
            <a:r>
              <a:t>Supports short-term price prediction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400800" y="4837176"/>
            <a:ext cx="480060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2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6437376" y="4869180"/>
            <a:ext cx="4727448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10" b="0">
                <a:solidFill>
                  <a:srgbClr val="414141"/>
                </a:solidFill>
              </a:defRPr>
            </a:pPr>
            <a:r>
              <a:t>Market intelligence is rarely connected to production and crop-health data.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94360" y="5458968"/>
            <a:ext cx="548640" cy="621792"/>
          </a:xfrm>
          <a:prstGeom prst="rect">
            <a:avLst/>
          </a:prstGeom>
          <a:solidFill>
            <a:srgbClr val="F7FAF8"/>
          </a:solidFill>
          <a:ln>
            <a:solidFill>
              <a:srgbClr val="D2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630936" y="5490972"/>
            <a:ext cx="475488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10" b="1">
                <a:solidFill>
                  <a:srgbClr val="1A2D42"/>
                </a:solidFill>
              </a:defRPr>
            </a:pPr>
            <a:r>
              <a:t>6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143000" y="5458968"/>
            <a:ext cx="1417320" cy="621792"/>
          </a:xfrm>
          <a:prstGeom prst="rect">
            <a:avLst/>
          </a:prstGeom>
          <a:solidFill>
            <a:srgbClr val="F7FAF8"/>
          </a:solidFill>
          <a:ln>
            <a:solidFill>
              <a:srgbClr val="D2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1179576" y="5490972"/>
            <a:ext cx="1344168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10" b="1">
                <a:solidFill>
                  <a:srgbClr val="1A2D42"/>
                </a:solidFill>
              </a:defRPr>
            </a:pPr>
            <a:r>
              <a:t>Overall integration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560320" y="5458968"/>
            <a:ext cx="1600200" cy="621792"/>
          </a:xfrm>
          <a:prstGeom prst="rect">
            <a:avLst/>
          </a:prstGeom>
          <a:solidFill>
            <a:srgbClr val="F7FAF8"/>
          </a:solidFill>
          <a:ln>
            <a:solidFill>
              <a:srgbClr val="D2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2596896" y="5490972"/>
            <a:ext cx="1527048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10" b="0">
                <a:solidFill>
                  <a:srgbClr val="414141"/>
                </a:solidFill>
              </a:defRPr>
            </a:pPr>
            <a:r>
              <a:t>Multimodal AI platform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160520" y="5458968"/>
            <a:ext cx="2240280" cy="621792"/>
          </a:xfrm>
          <a:prstGeom prst="rect">
            <a:avLst/>
          </a:prstGeom>
          <a:solidFill>
            <a:srgbClr val="F7FAF8"/>
          </a:solidFill>
          <a:ln>
            <a:solidFill>
              <a:srgbClr val="D2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4197096" y="5490972"/>
            <a:ext cx="2167128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10" b="0">
                <a:solidFill>
                  <a:srgbClr val="414141"/>
                </a:solidFill>
              </a:defRPr>
            </a:pPr>
            <a:r>
              <a:t>Opportunity for unified farmer support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400800" y="5458968"/>
            <a:ext cx="4800600" cy="621792"/>
          </a:xfrm>
          <a:prstGeom prst="rect">
            <a:avLst/>
          </a:prstGeom>
          <a:solidFill>
            <a:srgbClr val="F7FAF8"/>
          </a:solidFill>
          <a:ln>
            <a:solidFill>
              <a:srgbClr val="D2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6437376" y="5490972"/>
            <a:ext cx="4727448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10" b="0">
                <a:solidFill>
                  <a:srgbClr val="414141"/>
                </a:solidFill>
              </a:defRPr>
            </a:pPr>
            <a:r>
              <a:t>Need a simple end-to-end platform combining soil, weather, images, yield and market signals.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1828800" y="5806440"/>
            <a:ext cx="8549640" cy="438912"/>
          </a:xfrm>
          <a:prstGeom prst="roundRect">
            <a:avLst/>
          </a:prstGeom>
          <a:solidFill>
            <a:srgbClr val="238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1920240" y="5907024"/>
            <a:ext cx="8366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Identified Need → Integrated, multimodal, farmer-centric decision support across the crop cycle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02920" y="6446520"/>
            <a:ext cx="11155680" cy="16459"/>
          </a:xfrm>
          <a:prstGeom prst="rect">
            <a:avLst/>
          </a:prstGeom>
          <a:solidFill>
            <a:srgbClr val="D7E1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594360" y="6510528"/>
            <a:ext cx="2926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737373"/>
                </a:solidFill>
              </a:defRPr>
            </a:pPr>
            <a:r>
              <a:t>AGRI-INTELLIGENCE | REVIEW – 2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0881360" y="651052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737373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klh_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325880" cy="598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38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691640" y="256032"/>
            <a:ext cx="9966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A2D42"/>
                </a:solidFill>
                <a:latin typeface="Aptos Display"/>
              </a:defRPr>
            </a:pPr>
            <a:r>
              <a:t>Selected 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09928" y="768096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238250"/>
                </a:solidFill>
              </a:defRPr>
            </a:pPr>
            <a:r>
              <a:t>Real research papers used in the literature survey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4300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030">
                <a:solidFill>
                  <a:srgbClr val="414141"/>
                </a:solidFill>
              </a:defRPr>
            </a:pPr>
            <a:r>
              <a:t>1. van Klompenburg, T., Kassahun, A., &amp; Catal, C. (2020). Crop yield prediction using machine learning: A systematic literature review. Computers and Electronics in Agriculture. DOI: 10.1016/j.compag.2020.105709</a:t>
            </a:r>
          </a:p>
          <a:p>
            <a:pPr>
              <a:spcAft>
                <a:spcPts val="700"/>
              </a:spcAft>
              <a:defRPr sz="1030">
                <a:solidFill>
                  <a:srgbClr val="414141"/>
                </a:solidFill>
              </a:defRPr>
            </a:pPr>
            <a:r>
              <a:t>2. Shook, J. et al. (2021). Crop yield prediction integrating genotype and weather variables using deep learning. PLOS ONE. DOI: 10.1371/journal.pone.0252402</a:t>
            </a:r>
          </a:p>
          <a:p>
            <a:pPr>
              <a:spcAft>
                <a:spcPts val="700"/>
              </a:spcAft>
              <a:defRPr sz="1030">
                <a:solidFill>
                  <a:srgbClr val="414141"/>
                </a:solidFill>
              </a:defRPr>
            </a:pPr>
            <a:r>
              <a:t>3. Thilakarathne, N.N. et al. (2022). A Cloud Enabled Crop Recommendation Platform for Machine Learning-Driven Precision Farming. Sensors. DOI: 10.3390/s22166299</a:t>
            </a:r>
          </a:p>
          <a:p>
            <a:pPr>
              <a:spcAft>
                <a:spcPts val="700"/>
              </a:spcAft>
              <a:defRPr sz="1030">
                <a:solidFill>
                  <a:srgbClr val="414141"/>
                </a:solidFill>
              </a:defRPr>
            </a:pPr>
            <a:r>
              <a:t>4. Chen, R. et al. (2022). Identification of plant leaf diseases by deep learning based on channel attention and channel pruning. Frontiers in Plant Science. DOI: 10.3389/fpls.2022.1023515</a:t>
            </a:r>
          </a:p>
          <a:p>
            <a:pPr>
              <a:spcAft>
                <a:spcPts val="700"/>
              </a:spcAft>
              <a:defRPr sz="1030">
                <a:solidFill>
                  <a:srgbClr val="414141"/>
                </a:solidFill>
              </a:defRPr>
            </a:pPr>
            <a:r>
              <a:t>5. Srivastava, A.K. et al. (2022). Winter wheat yield prediction using convolutional neural networks from environmental and phenological data. Scientific Reports. DOI: 10.1038/s41598-022-06249-w</a:t>
            </a:r>
          </a:p>
          <a:p>
            <a:pPr>
              <a:spcAft>
                <a:spcPts val="700"/>
              </a:spcAft>
              <a:defRPr sz="1030">
                <a:solidFill>
                  <a:srgbClr val="414141"/>
                </a:solidFill>
              </a:defRPr>
            </a:pPr>
            <a:r>
              <a:t>6. Vinson Joshua, S. et al. (2022). Crop Yield Prediction Using Machine Learning Approaches on a Wide Spectrum. Computers, Materials &amp; Continua. DOI: 10.32604/cmc.2022.027178</a:t>
            </a:r>
          </a:p>
          <a:p>
            <a:pPr>
              <a:spcAft>
                <a:spcPts val="700"/>
              </a:spcAft>
              <a:defRPr sz="1030">
                <a:solidFill>
                  <a:srgbClr val="414141"/>
                </a:solidFill>
              </a:defRPr>
            </a:pPr>
            <a:r>
              <a:t>7. Vianny, D.M.M. et al. (2022). Water optimization technique for precision irrigation system using IoT and machine learning. Sustainable Energy Technologies and Assessments. DOI: 10.1016/j.seta.2022.102307</a:t>
            </a:r>
          </a:p>
          <a:p>
            <a:pPr>
              <a:spcAft>
                <a:spcPts val="700"/>
              </a:spcAft>
              <a:defRPr sz="1030">
                <a:solidFill>
                  <a:srgbClr val="414141"/>
                </a:solidFill>
              </a:defRPr>
            </a:pPr>
            <a:r>
              <a:t>8. Mahto, A.K. et al. (2021). Short-Term Forecasting of Agriculture Commodities in Context of Indian Market... Journal of Food Quality. DOI: 10.1155/2021/9939906</a:t>
            </a:r>
          </a:p>
          <a:p>
            <a:pPr>
              <a:spcAft>
                <a:spcPts val="700"/>
              </a:spcAft>
              <a:defRPr sz="1030">
                <a:solidFill>
                  <a:srgbClr val="414141"/>
                </a:solidFill>
              </a:defRPr>
            </a:pPr>
            <a:r>
              <a:t>9. Manogna, R.L. &amp; Mishra, A.K. (2021). Forecasting spot prices of agricultural commodities in India: Application of deep-learning models. DOI: 10.1002/isaf.1487</a:t>
            </a:r>
          </a:p>
          <a:p>
            <a:pPr>
              <a:spcAft>
                <a:spcPts val="700"/>
              </a:spcAft>
              <a:defRPr sz="1030">
                <a:solidFill>
                  <a:srgbClr val="414141"/>
                </a:solidFill>
              </a:defRPr>
            </a:pPr>
            <a:r>
              <a:t>10. Shingade, S.D. &amp; Mudhalwadkar, R.P. (2023). Sensor information-based crop recommendation system using machine learning for the fertile regions of Maharashtra. DOI: 10.1002/cpe.7774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46520"/>
            <a:ext cx="11155680" cy="16459"/>
          </a:xfrm>
          <a:prstGeom prst="rect">
            <a:avLst/>
          </a:prstGeom>
          <a:solidFill>
            <a:srgbClr val="D7E1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6510528"/>
            <a:ext cx="2926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737373"/>
                </a:solidFill>
              </a:defRPr>
            </a:pPr>
            <a:r>
              <a:t>AGRI-INTELLIGENCE | REVIEW –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51052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737373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2279</Words>
  <Application>Microsoft Office PowerPoint</Application>
  <PresentationFormat>Widescreen</PresentationFormat>
  <Paragraphs>335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Nagaraju Mudhiraj</cp:lastModifiedBy>
  <cp:revision>3</cp:revision>
  <dcterms:created xsi:type="dcterms:W3CDTF">2013-01-27T09:14:16Z</dcterms:created>
  <dcterms:modified xsi:type="dcterms:W3CDTF">2026-09-19T15:21:59Z</dcterms:modified>
  <cp:category/>
</cp:coreProperties>
</file>